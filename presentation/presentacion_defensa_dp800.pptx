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Fragmentos visibles</c:v>
                </c:pt>
              </c:strCache>
            </c:strRef>
          </c:tx>
          <c:spPr>
            <a:solidFill>
              <a:srgbClr val="0E9F8E"/>
            </a:solidFill>
          </c:spPr>
          <c:dPt>
            <c:idx val="5"/>
            <c:spPr>
              <a:solidFill>
                <a:srgbClr val="1E2329"/>
              </a:solidFill>
            </c:spPr>
          </c:dPt>
          <c:cat>
            <c:strRef>
              <c:f>Sheet1!$A$2:$A$7</c:f>
              <c:strCache>
                <c:ptCount val="6"/>
                <c:pt idx="0">
                  <c:v>dbo (administrador)</c:v>
                </c:pt>
                <c:pt idx="1">
                  <c:v>invitado_externo</c:v>
                </c:pt>
                <c:pt idx="2">
                  <c:v>ana_rrhh</c:v>
                </c:pt>
                <c:pt idx="3">
                  <c:v>carlos_ventas</c:v>
                </c:pt>
                <c:pt idx="4">
                  <c:v>lucia_it</c:v>
                </c:pt>
                <c:pt idx="5">
                  <c:v>marta_direccion</c:v>
                </c:pt>
              </c:strCache>
            </c:strRef>
          </c:cat>
          <c:val>
            <c:numRef>
              <c:f>Sheet1!$B$2:$B$7</c:f>
              <c:numCache>
                <c:formatCode>General</c:formatCode>
                <c:ptCount val="6"/>
                <c:pt idx="0">
                  <c:v>0</c:v>
                </c:pt>
                <c:pt idx="1">
                  <c:v>0</c:v>
                </c:pt>
                <c:pt idx="2">
                  <c:v>33</c:v>
                </c:pt>
                <c:pt idx="3">
                  <c:v>32</c:v>
                </c:pt>
                <c:pt idx="4">
                  <c:v>33</c:v>
                </c:pt>
                <c:pt idx="5">
                  <c:v>72</c:v>
                </c:pt>
              </c:numCache>
            </c:numRef>
          </c:val>
        </c:ser>
        <c:dLbls>
          <c:txPr>
            <a:bodyPr/>
            <a:lstStyle/>
            <a:p>
              <a:pPr>
                <a:defRPr sz="1400" b="1">
                  <a:solidFill>
                    <a:srgbClr val="1E2329"/>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8C2CC"/>
            </a:solidFill>
          </a:ln>
        </c:spPr>
        <c:txPr>
          <a:bodyPr/>
          <a:lstStyle/>
          <a:p>
            <a:pPr>
              <a:defRPr sz="1400">
                <a:solidFill>
                  <a:srgbClr val="1E2329"/>
                </a:solidFill>
              </a:defRPr>
            </a:pPr>
          </a:p>
        </c:txPr>
        <c:crossAx val="-2113994440"/>
        <c:crosses val="autoZero"/>
        <c:auto val="1"/>
        <c:lblAlgn val="ctr"/>
        <c:lblOffset val="100"/>
        <c:noMultiLvlLbl val="0"/>
      </c:catAx>
      <c:valAx>
        <c:axId val="-2113994440"/>
        <c:scaling>
          <c:max val="80.0"/>
        </c:scaling>
        <c:delete val="0"/>
        <c:axPos val="b"/>
        <c:majorGridlines>
          <c:spPr>
            <a:ln>
              <a:solidFill>
                <a:srgbClr val="EEF2F4"/>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5B66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Con padding (ejemplo oficial)</c:v>
                </c:pt>
              </c:strCache>
            </c:strRef>
          </c:tx>
          <c:spPr>
            <a:solidFill>
              <a:srgbClr val="B8C2CC"/>
            </a:solidFill>
          </c:spPr>
          <c:cat>
            <c:strRef>
              <c:f>Sheet1!$A$2:$A$7</c:f>
              <c:strCache>
                <c:ptCount val="6"/>
                <c:pt idx="0">
                  <c:v>gato / gatito
(EN, similar)</c:v>
                </c:pt>
                <c:pt idx="1">
                  <c:v>gato / bolsa
(EN, distinto)</c:v>
                </c:pt>
                <c:pt idx="2">
                  <c:v>mudanza / traslado
(ES, similar)</c:v>
                </c:pt>
                <c:pt idx="3">
                  <c:v>mudanza / seguridad
(ES, distinto)</c:v>
                </c:pt>
                <c:pt idx="4">
                  <c:v>vacaciones / norma
(ES, similar)</c:v>
                </c:pt>
                <c:pt idx="5">
                  <c:v>vacaciones / comisiones
(ES, distinto)</c:v>
                </c:pt>
              </c:strCache>
            </c:strRef>
          </c:cat>
          <c:val>
            <c:numRef>
              <c:f>Sheet1!$B$2:$B$7</c:f>
              <c:numCache>
                <c:formatCode>General</c:formatCode>
                <c:ptCount val="6"/>
                <c:pt idx="0">
                  <c:v>0.0544</c:v>
                </c:pt>
                <c:pt idx="1">
                  <c:v>0.1384</c:v>
                </c:pt>
                <c:pt idx="2">
                  <c:v>0.0429</c:v>
                </c:pt>
                <c:pt idx="3">
                  <c:v>0.0492</c:v>
                </c:pt>
                <c:pt idx="4">
                  <c:v>0.0893</c:v>
                </c:pt>
                <c:pt idx="5">
                  <c:v>0.105</c:v>
                </c:pt>
              </c:numCache>
            </c:numRef>
          </c:val>
        </c:ser>
        <c:ser>
          <c:idx val="1"/>
          <c:order val="1"/>
          <c:tx>
            <c:strRef>
              <c:f>Sheet1!$C$1</c:f>
              <c:strCache>
                <c:ptCount val="1"/>
                <c:pt idx="0">
                  <c:v>Sin padding (proyecto)</c:v>
                </c:pt>
              </c:strCache>
            </c:strRef>
          </c:tx>
          <c:spPr>
            <a:solidFill>
              <a:srgbClr val="0E9F8E"/>
            </a:solidFill>
          </c:spPr>
          <c:cat>
            <c:strRef>
              <c:f>Sheet1!$A$2:$A$7</c:f>
              <c:strCache>
                <c:ptCount val="6"/>
                <c:pt idx="0">
                  <c:v>gato / gatito
(EN, similar)</c:v>
                </c:pt>
                <c:pt idx="1">
                  <c:v>gato / bolsa
(EN, distinto)</c:v>
                </c:pt>
                <c:pt idx="2">
                  <c:v>mudanza / traslado
(ES, similar)</c:v>
                </c:pt>
                <c:pt idx="3">
                  <c:v>mudanza / seguridad
(ES, distinto)</c:v>
                </c:pt>
                <c:pt idx="4">
                  <c:v>vacaciones / norma
(ES, similar)</c:v>
                </c:pt>
                <c:pt idx="5">
                  <c:v>vacaciones / comisiones
(ES, distinto)</c:v>
                </c:pt>
              </c:strCache>
            </c:strRef>
          </c:cat>
          <c:val>
            <c:numRef>
              <c:f>Sheet1!$C$2:$C$7</c:f>
              <c:numCache>
                <c:formatCode>General</c:formatCode>
                <c:ptCount val="6"/>
                <c:pt idx="0">
                  <c:v>0.2206</c:v>
                </c:pt>
                <c:pt idx="1">
                  <c:v>0.4266</c:v>
                </c:pt>
                <c:pt idx="2">
                  <c:v>0.2401</c:v>
                </c:pt>
                <c:pt idx="3">
                  <c:v>0.2135</c:v>
                </c:pt>
                <c:pt idx="4">
                  <c:v>0.2727</c:v>
                </c:pt>
                <c:pt idx="5">
                  <c:v>0.3247</c:v>
                </c:pt>
              </c:numCache>
            </c:numRef>
          </c:val>
        </c:ser>
        <c:dLbls>
          <c:numFmt formatCode="0.00" sourceLinked="0"/>
          <c:txPr>
            <a:bodyPr/>
            <a:lstStyle/>
            <a:p>
              <a:pPr>
                <a:defRPr sz="1100">
                  <a:solidFill>
                    <a:srgbClr val="1E2329"/>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B8C2CC"/>
            </a:solidFill>
          </a:ln>
        </c:spPr>
        <c:txPr>
          <a:bodyPr/>
          <a:lstStyle/>
          <a:p>
            <a:pPr>
              <a:defRPr sz="1100">
                <a:solidFill>
                  <a:srgbClr val="1E2329"/>
                </a:solidFill>
              </a:defRPr>
            </a:pPr>
          </a:p>
        </c:txPr>
        <c:crossAx val="-2113994440"/>
        <c:crosses val="autoZero"/>
        <c:auto val="1"/>
        <c:lblAlgn val="ctr"/>
        <c:lblOffset val="100"/>
        <c:noMultiLvlLbl val="0"/>
      </c:catAx>
      <c:valAx>
        <c:axId val="-2113994440"/>
        <c:scaling>
          <c:max val="0.5"/>
        </c:scaling>
        <c:delete val="0"/>
        <c:axPos val="l"/>
        <c:majorGridlines>
          <c:spPr>
            <a:ln>
              <a:solidFill>
                <a:srgbClr val="EEF2F4"/>
              </a:solidFill>
            </a:ln>
          </c:spPr>
        </c:majorGridlines>
        <c:numFmt formatCode="0.0" sourceLinked="0"/>
        <c:majorTickMark val="out"/>
        <c:minorTickMark val="none"/>
        <c:tickLblPos val="nextTo"/>
        <c:spPr>
          <a:ln>
            <a:noFill/>
          </a:ln>
        </c:spPr>
        <c:crossAx val="-2068027336"/>
        <c:crosses val="autoZero"/>
        <c:majorUnit val="0.1"/>
      </c:valAx>
    </c:plotArea>
    <c:legend>
      <c:legendPos val="t"/>
      <c:overlay val="0"/>
      <c:txPr>
        <a:bodyPr/>
        <a:lstStyle/>
        <a:p>
          <a:pPr>
            <a:defRPr sz="1300"/>
          </a:pPr>
        </a:p>
      </c:txPr>
    </c:legend>
    <c:dispBlanksAs val="gap"/>
  </c:chart>
  <c:txPr>
    <a:bodyPr/>
    <a:lstStyle/>
    <a:p>
      <a:pPr>
        <a:defRPr sz="1200">
          <a:solidFill>
            <a:srgbClr val="5B667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E2329"/>
                </a:solidFill>
                <a:latin typeface="Calibri"/>
              </a:rPr>
              <a:t>MRR (1 = siempre en primera posición)</a:t>
            </a:r>
          </a:p>
        </c:rich>
      </c:tx>
      <c:layout/>
      <c:overlay val="0"/>
    </c:title>
    <c:autoTitleDeleted val="0"/>
    <c:plotArea>
      <c:barChart>
        <c:barDir val="col"/>
        <c:grouping val="clustered"/>
        <c:ser>
          <c:idx val="0"/>
          <c:order val="0"/>
          <c:tx>
            <c:strRef>
              <c:f>Sheet1!$B$1</c:f>
              <c:strCache>
                <c:ptCount val="1"/>
                <c:pt idx="0">
                  <c:v>MRR</c:v>
                </c:pt>
              </c:strCache>
            </c:strRef>
          </c:tx>
          <c:dPt>
            <c:idx val="0"/>
            <c:spPr>
              <a:solidFill>
                <a:srgbClr val="B8C2CC"/>
              </a:solidFill>
            </c:spPr>
          </c:dPt>
          <c:dPt>
            <c:idx val="1"/>
            <c:spPr>
              <a:solidFill>
                <a:srgbClr val="B8C2CC"/>
              </a:solidFill>
            </c:spPr>
          </c:dPt>
          <c:dPt>
            <c:idx val="2"/>
            <c:spPr>
              <a:solidFill>
                <a:srgbClr val="0E9F8E"/>
              </a:solidFill>
            </c:spPr>
          </c:dPt>
          <c:cat>
            <c:strRef>
              <c:f>Sheet1!$A$2:$A$4</c:f>
              <c:strCache>
                <c:ptCount val="3"/>
                <c:pt idx="0">
                  <c:v>Solo vectores</c:v>
                </c:pt>
                <c:pt idx="1">
                  <c:v>Solo full-text</c:v>
                </c:pt>
                <c:pt idx="2">
                  <c:v>Híbrida (RRF)</c:v>
                </c:pt>
              </c:strCache>
            </c:strRef>
          </c:cat>
          <c:val>
            <c:numRef>
              <c:f>Sheet1!$B$2:$B$4</c:f>
              <c:numCache>
                <c:formatCode>General</c:formatCode>
                <c:ptCount val="3"/>
                <c:pt idx="0">
                  <c:v>0.563</c:v>
                </c:pt>
                <c:pt idx="1">
                  <c:v>0.753</c:v>
                </c:pt>
                <c:pt idx="2">
                  <c:v>0.808</c:v>
                </c:pt>
              </c:numCache>
            </c:numRef>
          </c:val>
        </c:ser>
        <c:dLbls>
          <c:numFmt formatCode="0.000" sourceLinked="0"/>
          <c:txPr>
            <a:bodyPr/>
            <a:lstStyle/>
            <a:p>
              <a:pPr>
                <a:defRPr sz="1600" b="1">
                  <a:solidFill>
                    <a:srgbClr val="1E2329"/>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B8C2CC"/>
            </a:solidFill>
          </a:ln>
        </c:spPr>
        <c:txPr>
          <a:bodyPr/>
          <a:lstStyle/>
          <a:p>
            <a:pPr>
              <a:defRPr sz="1400">
                <a:solidFill>
                  <a:srgbClr val="1E2329"/>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EF2F4"/>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300">
          <a:solidFill>
            <a:srgbClr val="5B667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NormativaRAG: un sistema de consulta de normativas internas en lenguaje natural construido íntegramente dentro de SQL Server 2025. Los embeddings se generan con un modelo ONNX local, la búsqueda y la seguridad viven en el motor y la interfaz es GitHub Copilot. Tres cifras resumen el proyecto: todo es local, no hay ninguna aplicación intermedia y la búsqueda híbrida alcanza un MRR de 0,81.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de partida es la confidencialidad. En un RAG, el modelo de lenguaje solo debería ver lo que el usuario tiene derecho a ver. Si ese control vive en una aplicación, depende de que esa aplicación no tenga errores. La propuesta Zero-App lleva todo al motor: si la base de datos no devuelve una fila, el LLM no puede filtrarla. Además, la versión inicial tenía un token en el código y usaba SESSION_CONTEXT, que Copilot no puede establecer.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 en modo agente, ejecuta una única llamada: EXECUTE AS el usuario y el procedimiento de búsqueda. Dentro del motor, la pregunta se convierte en vector con AI_GENERATE_EMBEDDINGS, que lanza el proceso AIRuntimeHost con el tokenizador, ONNX Runtime y el modelo. La búsqueda híbrida combina vectores y texto completo, y la política de seguridad filtra las filas por departamento antes de devolver nada. Copilot solo redacta con lo que recibe, siguiendo las reglas de copilot-instructions.md.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flujo tiene cinco pasos. La ingesta se hace una vez: se cargan las normativas y se vectorizan dentro del motor. En cada pregunta, Copilot ejecuta el procedimiento suplantando al empleado; la seguridad por filas actúa automáticamente; la recuperación combina dos rankings y completa las normativas partidas; y solo el último paso, la redacción, ocurre fuera de SQL 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runtime local necesita tres piezas. ONNX Runtime lo tomé del paquete oficial de NuGet, comprobando el hash y la firma de Microsoft. El tokenizador no tiene un binario oficial: la DLL precompilada que enlaza el blog de Azure SQL no tiene firma ni checksums, así que revisé su código y la compilé yo. Así sé exactamente qué código nativo se carga en un proceso del servidor. El modelo es el del ejemplo oficial, con el hash verificado, pero con el padding desactivado.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relacional tiene tres tablas. Departamentos es el catálogo central y tiene dos relaciones uno a muchos: con Empleados y con Normativas. Las columnas en color son las que conectan el modelo con el resto del proyecto. RolBD guarda el nombre del rol de base de datos que da acceso a cada departamento, y es lo que evalúa el RLS. DepartamentoId en Normativas es la columna que recibe el predicado de seguridad. Codigo lleva el sufijo a o b cuando una normativa está dividida en dos fragmentos. Y Embedding guarda el vector de 384 dimensiones, sin índice, porque la búsqueda es exacta.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seguridad se implementa con una función de predicado y una política de seguridad. La función comprueba con IS_MEMBER si el usuario pertenece al rol del departamento de cada fila, leyendo ese rol de la tabla Departamentos. Elegí IS_MEMBER en lugar de SESSION_CONTEXT porque este último lo establece el cliente y Copilot no puede hacerlo; IS_MEMBER depende de la pertenencia real a roles, que solo gestiona el administrador. Dirección ve todo por regla de negocio, y el administrador no ve nada.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prueba central del RLS. La consulta es exactamente la misma para todos, sin WHERE, y cada usuario ve un número de fragmentos distinto: Ana ve los generales y los de RRHH, Carlos los generales y los de Ventas, y Marta, de Dirección, los 72. Dos casos merecen atención: el administrador no ve nada, porque dbo no puede pertenecer a ningún rol; y el invitado tiene permiso SELECT pero ningún rol, lo que demuestra que permisos de objeto y RLS son capas independientes.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Seis decisiones que se pueden defender una a una. La búsqueda es exacta porque con este volumen es rápida y tiene recall completo, y además garantiza que el filtro de seguridad se aplique antes del top N. El procedimiento no usa EXECUTE AS OWNER porque entonces IS_MEMBER evaluaría al propietario y el RLS dejaría de funcionar. Y el orden de los scripts importa: con la política activa, el administrador no vería las filas que tiene que vectorizar.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hallazgo: el tokenizador del modelo trunca a 128 tokens sin avisar. Con un vocabulario inglés, el español se parte en muchos subtokens, y 35 de las 37 normativas superaban ese límite: su embedding solo representaba el principio del texto. Las dividí en dos fragmentos por frases, repitiendo el título, y medí cada fragmento con la misma DLL que usa SQL Server. Resultado: 72 fragmentos y ninguno truncado.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hallazgo vino de medir pares de frases conocidos. Con el modelo tal cual aparece en el ejemplo oficial, las distancias eran diminutas. Mi hipótesis fue que el tokenizador rellenaba todos los textos hasta 128 posiciones y AIRuntimeHost promediaba también ese relleno. Lo comprobé con un segundo modelo temporal, sin padding: las distancias se separan entre tres y cinco veces. Esto importa porque el peso del relleno depende de la longitud del texto, así que los textos cortos se parecían entre sí por ser cortos. El par español mudanza/seguridad muestra que el modelo sigue siendo débil en español, que es lo que resuelve el tercer hallazgo.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tercer hallazgo es de calidad de recuperación. Con solo vectores, el MRR era 0,56 y la pregunta de ejemplo de la propuesta salía en la posición 11. Añadí un índice full-text en español y fusioné los dos rankings con Reciprocal Rank Fusion, que solo usa posiciones y por eso no necesita normalizar escalas tan distintas. El MRR sube a 0,81 y la normativa correcta aparece en el top 4 en 11 de las 12 preguntas. Usé k igual a 60, el valor estándar; con k igual a 20 se ganaba una pregunta más, pero elegirlo con las mismas preguntas de prueba sería sobreajustar.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Dividir las normativas tenía un efecto secundario: el top N podía traer solo una mitad. En este ejemplo real, Carlos recibía los gastos del traslado pero no el fragmento que dice que son tres días. La solución es recuperar por fragmento pero entregar la normativa completa: el procedimiento añade el fragmento hermano, y la columna EsFragmentoHermano lo deja visible. El hermano siempre es del mismo departamento, así que no abre ningún hueco en la seguridad.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demo, Copilot ejecuta el procedimiento como cada empleado. Ana, de Recursos Humanos, recibe la norma general: un día por mudanza. Lucía, de Tecnología, recibe tres días de teletrabajo por semana, que es la política de su departamento y no la general. Copilot redacta solo con los fragmentos devueltos y menciona el usuario con el que se hizo la consulta.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segunda parte de la demo enseña lo que no se ve. Cuando Lucía pregunta por la retribución de directivos, la base de datos no le devuelve ese fragmento y Copilot responde que no hay normativa disponible: no puede revelar algo que nunca ha recibido. El invitado sin rol obtiene cero resultados aunque tenga permiso de ejecución. Y el propio administrador, sin suplantar a nadie, tampoco ve nada: la política no tiene excepciones ocultas.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ser transparente: el runtime ONNX local es una característica en preview, solo para Windows, y la interfaz del tokenizador no está documentada. Las limitaciones conocidas son el modelo entrenado en inglés, que mitigo con la búsqueda híbrida, y que la demo suplanta usuarios de prueba. En producción, cada empleado se conectaría con su identidad de Windows o Entra ID, y el procedimiento y la política no cambiarían.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tres ideas. La seguridad está en el motor: el modelo de lenguaje no puede revelar lo que la base de datos no le entrega. La inteligencia artificial también está en el motor, sin servicios externos. Y cada decisión se ha validado con datos: el truncado, el padding y la calidad de recuperación. Quedo a disposición del tribunal para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329"/>
        </a:solidFill>
        <a:effectLst/>
      </p:bgPr>
    </p:bg>
    <p:spTree>
      <p:nvGrpSpPr>
        <p:cNvPr id="1" name=""/>
        <p:cNvGrpSpPr/>
        <p:nvPr/>
      </p:nvGrpSpPr>
      <p:grpSpPr/>
      <p:sp>
        <p:nvSpPr>
          <p:cNvPr id="2" name="TextBox 1"/>
          <p:cNvSpPr txBox="1"/>
          <p:nvPr/>
        </p:nvSpPr>
        <p:spPr>
          <a:xfrm>
            <a:off x="731520" y="1097280"/>
            <a:ext cx="10515600" cy="457200"/>
          </a:xfrm>
          <a:prstGeom prst="rect">
            <a:avLst/>
          </a:prstGeom>
          <a:noFill/>
        </p:spPr>
        <p:txBody>
          <a:bodyPr wrap="square" anchor="t" lIns="0" rIns="0" tIns="0" bIns="0">
            <a:spAutoFit/>
          </a:bodyPr>
          <a:lstStyle/>
          <a:p>
            <a:pPr algn="l"/>
            <a:r>
              <a:rPr sz="1600" b="1" i="0">
                <a:solidFill>
                  <a:srgbClr val="0E9F8E"/>
                </a:solidFill>
                <a:latin typeface="Calibri"/>
              </a:rPr>
              <a:t>Proyecto de certificación · Microsoft DP-800 (SQL AI Developer Associate)</a:t>
            </a:r>
          </a:p>
        </p:txBody>
      </p:sp>
      <p:sp>
        <p:nvSpPr>
          <p:cNvPr id="3" name="TextBox 2"/>
          <p:cNvSpPr txBox="1"/>
          <p:nvPr/>
        </p:nvSpPr>
        <p:spPr>
          <a:xfrm>
            <a:off x="731520" y="1600200"/>
            <a:ext cx="10515600" cy="1097280"/>
          </a:xfrm>
          <a:prstGeom prst="rect">
            <a:avLst/>
          </a:prstGeom>
          <a:noFill/>
        </p:spPr>
        <p:txBody>
          <a:bodyPr wrap="square" anchor="t" lIns="0" rIns="0" tIns="0" bIns="0">
            <a:spAutoFit/>
          </a:bodyPr>
          <a:lstStyle/>
          <a:p>
            <a:pPr algn="l"/>
            <a:r>
              <a:rPr sz="6000" b="1" i="0">
                <a:solidFill>
                  <a:srgbClr val="FFFFFF"/>
                </a:solidFill>
                <a:latin typeface="Calibri"/>
              </a:rPr>
              <a:t>NormativaRAG</a:t>
            </a:r>
          </a:p>
        </p:txBody>
      </p:sp>
      <p:sp>
        <p:nvSpPr>
          <p:cNvPr id="4" name="TextBox 3"/>
          <p:cNvSpPr txBox="1"/>
          <p:nvPr/>
        </p:nvSpPr>
        <p:spPr>
          <a:xfrm>
            <a:off x="731520" y="2697480"/>
            <a:ext cx="10515600" cy="822960"/>
          </a:xfrm>
          <a:prstGeom prst="rect">
            <a:avLst/>
          </a:prstGeom>
          <a:noFill/>
        </p:spPr>
        <p:txBody>
          <a:bodyPr wrap="square" anchor="t" lIns="0" rIns="0" tIns="0" bIns="0">
            <a:spAutoFit/>
          </a:bodyPr>
          <a:lstStyle/>
          <a:p>
            <a:pPr algn="l"/>
            <a:r>
              <a:rPr sz="2600" b="0" i="0">
                <a:solidFill>
                  <a:srgbClr val="B8C2CC"/>
                </a:solidFill>
                <a:latin typeface="Calibri"/>
              </a:rPr>
              <a:t>RAG de auditoría normativa con Row-Level Security en SQL Server 2025</a:t>
            </a:r>
          </a:p>
        </p:txBody>
      </p:sp>
      <p:sp>
        <p:nvSpPr>
          <p:cNvPr id="5" name="TextBox 4"/>
          <p:cNvSpPr txBox="1"/>
          <p:nvPr/>
        </p:nvSpPr>
        <p:spPr>
          <a:xfrm>
            <a:off x="731520" y="3520440"/>
            <a:ext cx="10515600" cy="457200"/>
          </a:xfrm>
          <a:prstGeom prst="rect">
            <a:avLst/>
          </a:prstGeom>
          <a:noFill/>
        </p:spPr>
        <p:txBody>
          <a:bodyPr wrap="square" anchor="t" lIns="0" rIns="0" tIns="0" bIns="0">
            <a:spAutoFit/>
          </a:bodyPr>
          <a:lstStyle/>
          <a:p>
            <a:pPr algn="l"/>
            <a:r>
              <a:rPr sz="1800" b="0" i="0">
                <a:solidFill>
                  <a:srgbClr val="FFFFFF"/>
                </a:solidFill>
                <a:latin typeface="Calibri"/>
              </a:rPr>
              <a:t>Víctor Pérez</a:t>
            </a:r>
          </a:p>
        </p:txBody>
      </p:sp>
      <p:sp>
        <p:nvSpPr>
          <p:cNvPr id="6" name="Rounded Rectangle 5"/>
          <p:cNvSpPr/>
          <p:nvPr/>
        </p:nvSpPr>
        <p:spPr>
          <a:xfrm>
            <a:off x="731520" y="4572000"/>
            <a:ext cx="3337560" cy="1371600"/>
          </a:xfrm>
          <a:prstGeom prst="roundRect">
            <a:avLst>
              <a:gd name="adj" fmla="val 10000"/>
            </a:avLst>
          </a:prstGeom>
          <a:solidFill>
            <a:srgbClr val="2B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4681728"/>
            <a:ext cx="2834640" cy="640080"/>
          </a:xfrm>
          <a:prstGeom prst="rect">
            <a:avLst/>
          </a:prstGeom>
          <a:noFill/>
        </p:spPr>
        <p:txBody>
          <a:bodyPr wrap="square" anchor="ctr" lIns="0" rIns="0" tIns="0" bIns="0">
            <a:spAutoFit/>
          </a:bodyPr>
          <a:lstStyle/>
          <a:p>
            <a:pPr algn="l"/>
            <a:r>
              <a:rPr sz="3400" b="1" i="0">
                <a:solidFill>
                  <a:srgbClr val="0E9F8E"/>
                </a:solidFill>
                <a:latin typeface="Calibri"/>
              </a:rPr>
              <a:t>100 %</a:t>
            </a:r>
          </a:p>
        </p:txBody>
      </p:sp>
      <p:sp>
        <p:nvSpPr>
          <p:cNvPr id="8" name="TextBox 7"/>
          <p:cNvSpPr txBox="1"/>
          <p:nvPr/>
        </p:nvSpPr>
        <p:spPr>
          <a:xfrm>
            <a:off x="1005840" y="5303520"/>
            <a:ext cx="2834640" cy="548640"/>
          </a:xfrm>
          <a:prstGeom prst="rect">
            <a:avLst/>
          </a:prstGeom>
          <a:noFill/>
        </p:spPr>
        <p:txBody>
          <a:bodyPr wrap="square" anchor="t" lIns="0" rIns="0" tIns="0" bIns="0">
            <a:spAutoFit/>
          </a:bodyPr>
          <a:lstStyle/>
          <a:p>
            <a:pPr algn="l"/>
            <a:r>
              <a:rPr sz="1400" b="0" i="0">
                <a:solidFill>
                  <a:srgbClr val="B8C2CC"/>
                </a:solidFill>
                <a:latin typeface="Calibri"/>
              </a:rPr>
              <a:t>local: embeddings ONNX dentro del motor</a:t>
            </a:r>
          </a:p>
        </p:txBody>
      </p:sp>
      <p:sp>
        <p:nvSpPr>
          <p:cNvPr id="9" name="Rounded Rectangle 8"/>
          <p:cNvSpPr/>
          <p:nvPr/>
        </p:nvSpPr>
        <p:spPr>
          <a:xfrm>
            <a:off x="4343400" y="4572000"/>
            <a:ext cx="3337560" cy="1371600"/>
          </a:xfrm>
          <a:prstGeom prst="roundRect">
            <a:avLst>
              <a:gd name="adj" fmla="val 10000"/>
            </a:avLst>
          </a:prstGeom>
          <a:solidFill>
            <a:srgbClr val="2B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4681728"/>
            <a:ext cx="2834640" cy="640080"/>
          </a:xfrm>
          <a:prstGeom prst="rect">
            <a:avLst/>
          </a:prstGeom>
          <a:noFill/>
        </p:spPr>
        <p:txBody>
          <a:bodyPr wrap="square" anchor="ctr" lIns="0" rIns="0" tIns="0" bIns="0">
            <a:spAutoFit/>
          </a:bodyPr>
          <a:lstStyle/>
          <a:p>
            <a:pPr algn="l"/>
            <a:r>
              <a:rPr sz="3400" b="1" i="0">
                <a:solidFill>
                  <a:srgbClr val="0E9F8E"/>
                </a:solidFill>
                <a:latin typeface="Calibri"/>
              </a:rPr>
              <a:t>0</a:t>
            </a:r>
          </a:p>
        </p:txBody>
      </p:sp>
      <p:sp>
        <p:nvSpPr>
          <p:cNvPr id="11" name="TextBox 10"/>
          <p:cNvSpPr txBox="1"/>
          <p:nvPr/>
        </p:nvSpPr>
        <p:spPr>
          <a:xfrm>
            <a:off x="4617720" y="5303520"/>
            <a:ext cx="2834640" cy="548640"/>
          </a:xfrm>
          <a:prstGeom prst="rect">
            <a:avLst/>
          </a:prstGeom>
          <a:noFill/>
        </p:spPr>
        <p:txBody>
          <a:bodyPr wrap="square" anchor="t" lIns="0" rIns="0" tIns="0" bIns="0">
            <a:spAutoFit/>
          </a:bodyPr>
          <a:lstStyle/>
          <a:p>
            <a:pPr algn="l"/>
            <a:r>
              <a:rPr sz="1400" b="0" i="0">
                <a:solidFill>
                  <a:srgbClr val="B8C2CC"/>
                </a:solidFill>
                <a:latin typeface="Calibri"/>
              </a:rPr>
              <a:t>aplicaciones intermedias (Zero-App)</a:t>
            </a:r>
          </a:p>
        </p:txBody>
      </p:sp>
      <p:sp>
        <p:nvSpPr>
          <p:cNvPr id="12" name="Rounded Rectangle 11"/>
          <p:cNvSpPr/>
          <p:nvPr/>
        </p:nvSpPr>
        <p:spPr>
          <a:xfrm>
            <a:off x="7955280" y="4572000"/>
            <a:ext cx="3337560" cy="1371600"/>
          </a:xfrm>
          <a:prstGeom prst="roundRect">
            <a:avLst>
              <a:gd name="adj" fmla="val 10000"/>
            </a:avLst>
          </a:prstGeom>
          <a:solidFill>
            <a:srgbClr val="2B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0" y="4681728"/>
            <a:ext cx="2834640" cy="640080"/>
          </a:xfrm>
          <a:prstGeom prst="rect">
            <a:avLst/>
          </a:prstGeom>
          <a:noFill/>
        </p:spPr>
        <p:txBody>
          <a:bodyPr wrap="square" anchor="ctr" lIns="0" rIns="0" tIns="0" bIns="0">
            <a:spAutoFit/>
          </a:bodyPr>
          <a:lstStyle/>
          <a:p>
            <a:pPr algn="l"/>
            <a:r>
              <a:rPr sz="3400" b="1" i="0">
                <a:solidFill>
                  <a:srgbClr val="E89A22"/>
                </a:solidFill>
                <a:latin typeface="Calibri"/>
              </a:rPr>
              <a:t>0,81</a:t>
            </a:r>
          </a:p>
        </p:txBody>
      </p:sp>
      <p:sp>
        <p:nvSpPr>
          <p:cNvPr id="14" name="TextBox 13"/>
          <p:cNvSpPr txBox="1"/>
          <p:nvPr/>
        </p:nvSpPr>
        <p:spPr>
          <a:xfrm>
            <a:off x="8229600" y="5303520"/>
            <a:ext cx="2834640" cy="548640"/>
          </a:xfrm>
          <a:prstGeom prst="rect">
            <a:avLst/>
          </a:prstGeom>
          <a:noFill/>
        </p:spPr>
        <p:txBody>
          <a:bodyPr wrap="square" anchor="t" lIns="0" rIns="0" tIns="0" bIns="0">
            <a:spAutoFit/>
          </a:bodyPr>
          <a:lstStyle/>
          <a:p>
            <a:pPr algn="l"/>
            <a:r>
              <a:rPr sz="1400" b="0" i="0">
                <a:solidFill>
                  <a:srgbClr val="B8C2CC"/>
                </a:solidFill>
                <a:latin typeface="Calibri"/>
              </a:rPr>
              <a:t>MRR con búsqueda híbrida (0,56 solo vectores)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El problema: IA generativa sobre datos confidenciales</a:t>
            </a:r>
          </a:p>
        </p:txBody>
      </p:sp>
      <p:sp>
        <p:nvSpPr>
          <p:cNvPr id="3" name="Rounded Rectangle 2"/>
          <p:cNvSpPr/>
          <p:nvPr/>
        </p:nvSpPr>
        <p:spPr>
          <a:xfrm>
            <a:off x="548640" y="1417320"/>
            <a:ext cx="5394960" cy="342900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60" y="1691640"/>
            <a:ext cx="502920" cy="502920"/>
          </a:xfrm>
          <a:prstGeom prst="ellipse">
            <a:avLst/>
          </a:prstGeom>
          <a:solidFill>
            <a:srgbClr val="E89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5" name="TextBox 4"/>
          <p:cNvSpPr txBox="1"/>
          <p:nvPr/>
        </p:nvSpPr>
        <p:spPr>
          <a:xfrm>
            <a:off x="1463040" y="1691640"/>
            <a:ext cx="4297680" cy="502920"/>
          </a:xfrm>
          <a:prstGeom prst="rect">
            <a:avLst/>
          </a:prstGeom>
          <a:noFill/>
        </p:spPr>
        <p:txBody>
          <a:bodyPr wrap="square" anchor="ctr" lIns="0" rIns="0" tIns="0" bIns="0">
            <a:spAutoFit/>
          </a:bodyPr>
          <a:lstStyle/>
          <a:p>
            <a:pPr algn="l"/>
            <a:r>
              <a:rPr sz="2200" b="1" i="0">
                <a:solidFill>
                  <a:srgbClr val="1E2329"/>
                </a:solidFill>
                <a:latin typeface="Calibri"/>
              </a:rPr>
              <a:t>El riesgo</a:t>
            </a:r>
          </a:p>
        </p:txBody>
      </p:sp>
      <p:sp>
        <p:nvSpPr>
          <p:cNvPr id="6" name="TextBox 5"/>
          <p:cNvSpPr txBox="1"/>
          <p:nvPr/>
        </p:nvSpPr>
        <p:spPr>
          <a:xfrm>
            <a:off x="822960" y="2423160"/>
            <a:ext cx="4892040" cy="2926080"/>
          </a:xfrm>
          <a:prstGeom prst="rect">
            <a:avLst/>
          </a:prstGeom>
          <a:noFill/>
        </p:spPr>
        <p:txBody>
          <a:bodyPr wrap="square" anchor="t" lIns="0" rIns="0" tIns="0" bIns="0">
            <a:spAutoFit/>
          </a:bodyPr>
          <a:lstStyle/>
          <a:p>
            <a:pPr algn="l" marL="228600" indent="-228600">
              <a:spcAft>
                <a:spcPts val="1000"/>
              </a:spcAft>
              <a:buClr>
                <a:srgbClr val="E89A22"/>
              </a:buClr>
              <a:buFont typeface="Arial"/>
              <a:buChar char="•"/>
            </a:pPr>
            <a:r>
              <a:rPr sz="1600" b="0" i="0">
                <a:solidFill>
                  <a:srgbClr val="1E2329"/>
                </a:solidFill>
                <a:latin typeface="Calibri"/>
              </a:rPr>
              <a:t>Un RAG recupera fragmentos de texto y se los entrega al LLM</a:t>
            </a:r>
          </a:p>
          <a:p>
            <a:pPr algn="l" marL="228600" indent="-228600">
              <a:spcAft>
                <a:spcPts val="1000"/>
              </a:spcAft>
              <a:buClr>
                <a:srgbClr val="E89A22"/>
              </a:buClr>
              <a:buFont typeface="Arial"/>
              <a:buChar char="•"/>
            </a:pPr>
            <a:r>
              <a:rPr sz="1600" b="0" i="0">
                <a:solidFill>
                  <a:srgbClr val="1E2329"/>
                </a:solidFill>
                <a:latin typeface="Calibri"/>
              </a:rPr>
              <a:t>Si los permisos se comprueban en la aplicación, un fallo en ese código filtra datos al modelo</a:t>
            </a:r>
          </a:p>
          <a:p>
            <a:pPr algn="l" marL="228600" indent="-228600">
              <a:spcAft>
                <a:spcPts val="1000"/>
              </a:spcAft>
              <a:buClr>
                <a:srgbClr val="E89A22"/>
              </a:buClr>
              <a:buFont typeface="Arial"/>
              <a:buChar char="•"/>
            </a:pPr>
            <a:r>
              <a:rPr sz="1600" b="0" i="0">
                <a:solidFill>
                  <a:srgbClr val="1E2329"/>
                </a:solidFill>
                <a:latin typeface="Calibri"/>
              </a:rPr>
              <a:t>La versión inicial del proyecto: scripts Python, un token en el código y RLS con SESSION_CONTEXT</a:t>
            </a:r>
          </a:p>
        </p:txBody>
      </p:sp>
      <p:sp>
        <p:nvSpPr>
          <p:cNvPr id="7" name="Rounded Rectangle 6"/>
          <p:cNvSpPr/>
          <p:nvPr/>
        </p:nvSpPr>
        <p:spPr>
          <a:xfrm>
            <a:off x="6245352" y="1417320"/>
            <a:ext cx="5394960" cy="3429000"/>
          </a:xfrm>
          <a:prstGeom prst="roundRect">
            <a:avLst>
              <a:gd name="adj" fmla="val 6000"/>
            </a:avLst>
          </a:prstGeom>
          <a:solidFill>
            <a:srgbClr val="E2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519672" y="16916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9" name="TextBox 8"/>
          <p:cNvSpPr txBox="1"/>
          <p:nvPr/>
        </p:nvSpPr>
        <p:spPr>
          <a:xfrm>
            <a:off x="7159752" y="1691640"/>
            <a:ext cx="4297680" cy="502920"/>
          </a:xfrm>
          <a:prstGeom prst="rect">
            <a:avLst/>
          </a:prstGeom>
          <a:noFill/>
        </p:spPr>
        <p:txBody>
          <a:bodyPr wrap="square" anchor="ctr" lIns="0" rIns="0" tIns="0" bIns="0">
            <a:spAutoFit/>
          </a:bodyPr>
          <a:lstStyle/>
          <a:p>
            <a:pPr algn="l"/>
            <a:r>
              <a:rPr sz="2200" b="1" i="0">
                <a:solidFill>
                  <a:srgbClr val="1E2329"/>
                </a:solidFill>
                <a:latin typeface="Calibri"/>
              </a:rPr>
              <a:t>La propuesta Zero-App</a:t>
            </a:r>
          </a:p>
        </p:txBody>
      </p:sp>
      <p:sp>
        <p:nvSpPr>
          <p:cNvPr id="10" name="TextBox 9"/>
          <p:cNvSpPr txBox="1"/>
          <p:nvPr/>
        </p:nvSpPr>
        <p:spPr>
          <a:xfrm>
            <a:off x="6519672" y="2423160"/>
            <a:ext cx="4892040" cy="2926080"/>
          </a:xfrm>
          <a:prstGeom prst="rect">
            <a:avLst/>
          </a:prstGeom>
          <a:noFill/>
        </p:spPr>
        <p:txBody>
          <a:bodyPr wrap="square" anchor="t" lIns="0" rIns="0" tIns="0" bIns="0">
            <a:spAutoFit/>
          </a:bodyPr>
          <a:lstStyle/>
          <a:p>
            <a:pPr algn="l" marL="228600" indent="-228600">
              <a:spcAft>
                <a:spcPts val="1000"/>
              </a:spcAft>
              <a:buClr>
                <a:srgbClr val="0E9F8E"/>
              </a:buClr>
              <a:buFont typeface="Arial"/>
              <a:buChar char="•"/>
            </a:pPr>
            <a:r>
              <a:rPr sz="1600" b="0" i="0">
                <a:solidFill>
                  <a:srgbClr val="1E2329"/>
                </a:solidFill>
                <a:latin typeface="Calibri"/>
              </a:rPr>
              <a:t>Embeddings, búsqueda y seguridad dentro de SQL Server 2025</a:t>
            </a:r>
          </a:p>
          <a:p>
            <a:pPr algn="l" marL="228600" indent="-228600">
              <a:spcAft>
                <a:spcPts val="1000"/>
              </a:spcAft>
              <a:buClr>
                <a:srgbClr val="0E9F8E"/>
              </a:buClr>
              <a:buFont typeface="Arial"/>
              <a:buChar char="•"/>
            </a:pPr>
            <a:r>
              <a:rPr sz="1600" b="0" i="0">
                <a:solidFill>
                  <a:srgbClr val="1E2329"/>
                </a:solidFill>
                <a:latin typeface="Calibri"/>
              </a:rPr>
              <a:t>GitHub Copilot (@mssql) como interfaz y como LLM</a:t>
            </a:r>
          </a:p>
          <a:p>
            <a:pPr algn="l" marL="228600" indent="-228600">
              <a:spcAft>
                <a:spcPts val="1000"/>
              </a:spcAft>
              <a:buClr>
                <a:srgbClr val="0E9F8E"/>
              </a:buClr>
              <a:buFont typeface="Arial"/>
              <a:buChar char="•"/>
            </a:pPr>
            <a:r>
              <a:rPr sz="1600" b="0" i="0">
                <a:solidFill>
                  <a:srgbClr val="1E2329"/>
                </a:solidFill>
                <a:latin typeface="Calibri"/>
              </a:rPr>
              <a:t>Row-Level Security descarta las filas no autorizadas antes de que salgan del motor</a:t>
            </a:r>
          </a:p>
        </p:txBody>
      </p:sp>
      <p:sp>
        <p:nvSpPr>
          <p:cNvPr id="11" name="TextBox 10"/>
          <p:cNvSpPr txBox="1"/>
          <p:nvPr/>
        </p:nvSpPr>
        <p:spPr>
          <a:xfrm>
            <a:off x="548640" y="5166360"/>
            <a:ext cx="11091672" cy="640080"/>
          </a:xfrm>
          <a:prstGeom prst="rect">
            <a:avLst/>
          </a:prstGeom>
          <a:noFill/>
        </p:spPr>
        <p:txBody>
          <a:bodyPr wrap="square" anchor="ctr" lIns="0" rIns="0" tIns="0" bIns="0">
            <a:spAutoFit/>
          </a:bodyPr>
          <a:lstStyle/>
          <a:p>
            <a:pPr algn="ctr"/>
            <a:r>
              <a:rPr sz="2200" b="0" i="1">
                <a:solidFill>
                  <a:srgbClr val="0E9F8E"/>
                </a:solidFill>
                <a:latin typeface="Calibri"/>
              </a:rPr>
              <a:t>«El LLM no puede filtrar lo que nunca recibe»</a:t>
            </a:r>
          </a:p>
        </p:txBody>
      </p:sp>
      <p:sp>
        <p:nvSpPr>
          <p:cNvPr id="12" name="TextBox 11"/>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Arquitectura Zero-App</a:t>
            </a:r>
          </a:p>
        </p:txBody>
      </p:sp>
      <p:sp>
        <p:nvSpPr>
          <p:cNvPr id="3" name="Rounded Rectangle 2"/>
          <p:cNvSpPr/>
          <p:nvPr/>
        </p:nvSpPr>
        <p:spPr>
          <a:xfrm>
            <a:off x="548640" y="1325880"/>
            <a:ext cx="3154680" cy="489204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417320"/>
            <a:ext cx="2834640" cy="365760"/>
          </a:xfrm>
          <a:prstGeom prst="rect">
            <a:avLst/>
          </a:prstGeom>
          <a:noFill/>
        </p:spPr>
        <p:txBody>
          <a:bodyPr wrap="square" anchor="t" lIns="0" rIns="0" tIns="0" bIns="0">
            <a:spAutoFit/>
          </a:bodyPr>
          <a:lstStyle/>
          <a:p>
            <a:pPr algn="l"/>
            <a:r>
              <a:rPr sz="1400" b="1" i="0">
                <a:solidFill>
                  <a:srgbClr val="5B6670"/>
                </a:solidFill>
                <a:latin typeface="Calibri"/>
              </a:rPr>
              <a:t>VS Code · Windows 11</a:t>
            </a:r>
          </a:p>
        </p:txBody>
      </p:sp>
      <p:sp>
        <p:nvSpPr>
          <p:cNvPr id="5" name="Rounded Rectangle 4"/>
          <p:cNvSpPr/>
          <p:nvPr/>
        </p:nvSpPr>
        <p:spPr>
          <a:xfrm>
            <a:off x="777240" y="1874519"/>
            <a:ext cx="2697480" cy="82296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E2329"/>
                </a:solidFill>
                <a:latin typeface="Calibri"/>
              </a:rPr>
              <a:t>Usuario</a:t>
            </a:r>
          </a:p>
          <a:p>
            <a:pPr algn="ctr"/>
            <a:r>
              <a:rPr sz="1200" b="0">
                <a:solidFill>
                  <a:srgbClr val="1E2329"/>
                </a:solidFill>
                <a:latin typeface="Calibri"/>
              </a:rPr>
              <a:t>pregunta en lenguaje natural</a:t>
            </a:r>
          </a:p>
        </p:txBody>
      </p:sp>
      <p:sp>
        <p:nvSpPr>
          <p:cNvPr id="6" name="Rounded Rectangle 5"/>
          <p:cNvSpPr/>
          <p:nvPr/>
        </p:nvSpPr>
        <p:spPr>
          <a:xfrm>
            <a:off x="777240" y="3017520"/>
            <a:ext cx="2697480" cy="1143000"/>
          </a:xfrm>
          <a:prstGeom prst="roundRect">
            <a:avLst>
              <a:gd name="adj" fmla="val 6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GitHub Copilot</a:t>
            </a:r>
          </a:p>
          <a:p>
            <a:pPr algn="ctr"/>
            <a:r>
              <a:rPr sz="1200" b="0">
                <a:solidFill>
                  <a:srgbClr val="FFFFFF"/>
                </a:solidFill>
                <a:latin typeface="Calibri"/>
              </a:rPr>
              <a:t>modo agente · @mssql</a:t>
            </a:r>
          </a:p>
          <a:p>
            <a:pPr algn="ctr"/>
            <a:r>
              <a:rPr sz="1200" b="0">
                <a:solidFill>
                  <a:srgbClr val="FFFFFF"/>
                </a:solidFill>
                <a:latin typeface="Calibri"/>
              </a:rPr>
              <a:t>herramienta run_query</a:t>
            </a:r>
          </a:p>
        </p:txBody>
      </p:sp>
      <p:sp>
        <p:nvSpPr>
          <p:cNvPr id="7" name="Rounded Rectangle 6"/>
          <p:cNvSpPr/>
          <p:nvPr/>
        </p:nvSpPr>
        <p:spPr>
          <a:xfrm>
            <a:off x="777240" y="4480560"/>
            <a:ext cx="2697480" cy="96012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2329"/>
                </a:solidFill>
                <a:latin typeface="Calibri"/>
              </a:rPr>
              <a:t>copilot-instructions.md</a:t>
            </a:r>
          </a:p>
          <a:p>
            <a:pPr algn="ctr"/>
            <a:r>
              <a:rPr sz="1100" b="0">
                <a:solidFill>
                  <a:srgbClr val="1E2329"/>
                </a:solidFill>
                <a:latin typeface="Calibri"/>
              </a:rPr>
              <a:t>responder solo con lo recuperado</a:t>
            </a:r>
          </a:p>
        </p:txBody>
      </p:sp>
      <p:cxnSp>
        <p:nvCxnSpPr>
          <p:cNvPr id="8" name="Connector 7"/>
          <p:cNvCxnSpPr/>
          <p:nvPr/>
        </p:nvCxnSpPr>
        <p:spPr>
          <a:xfrm>
            <a:off x="2130552" y="2697480"/>
            <a:ext cx="0" cy="320040"/>
          </a:xfrm>
          <a:prstGeom prst="line">
            <a:avLst/>
          </a:prstGeom>
          <a:ln w="22225">
            <a:solidFill>
              <a:srgbClr val="5B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130552" y="4160520"/>
            <a:ext cx="0" cy="320040"/>
          </a:xfrm>
          <a:prstGeom prst="line">
            <a:avLst/>
          </a:prstGeom>
          <a:ln w="22225">
            <a:solidFill>
              <a:srgbClr val="5B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160520" y="1325880"/>
            <a:ext cx="7479792" cy="489204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43400" y="1417320"/>
            <a:ext cx="7132320" cy="365760"/>
          </a:xfrm>
          <a:prstGeom prst="rect">
            <a:avLst/>
          </a:prstGeom>
          <a:noFill/>
        </p:spPr>
        <p:txBody>
          <a:bodyPr wrap="square" anchor="t" lIns="0" rIns="0" tIns="0" bIns="0">
            <a:spAutoFit/>
          </a:bodyPr>
          <a:lstStyle/>
          <a:p>
            <a:pPr algn="l"/>
            <a:r>
              <a:rPr sz="1400" b="1" i="0">
                <a:solidFill>
                  <a:srgbClr val="5B6670"/>
                </a:solidFill>
                <a:latin typeface="Calibri"/>
              </a:rPr>
              <a:t>SQL Server 2025 · base de datos NormativaRAG</a:t>
            </a:r>
          </a:p>
        </p:txBody>
      </p:sp>
      <p:sp>
        <p:nvSpPr>
          <p:cNvPr id="12" name="Rounded Rectangle 11"/>
          <p:cNvSpPr/>
          <p:nvPr/>
        </p:nvSpPr>
        <p:spPr>
          <a:xfrm>
            <a:off x="4434840" y="1874519"/>
            <a:ext cx="3291840" cy="822960"/>
          </a:xfrm>
          <a:prstGeom prst="roundRect">
            <a:avLst>
              <a:gd name="adj" fmla="val 6000"/>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dbo.usp_BuscarNormativa</a:t>
            </a:r>
          </a:p>
          <a:p>
            <a:pPr algn="ctr"/>
            <a:r>
              <a:rPr sz="1200" b="0">
                <a:solidFill>
                  <a:srgbClr val="FFFFFF"/>
                </a:solidFill>
                <a:latin typeface="Calibri"/>
              </a:rPr>
              <a:t>se ejecuta como el usuario</a:t>
            </a:r>
          </a:p>
        </p:txBody>
      </p:sp>
      <p:sp>
        <p:nvSpPr>
          <p:cNvPr id="13" name="Rounded Rectangle 12"/>
          <p:cNvSpPr/>
          <p:nvPr/>
        </p:nvSpPr>
        <p:spPr>
          <a:xfrm>
            <a:off x="4434840" y="3108960"/>
            <a:ext cx="3291840" cy="96012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E2329"/>
                </a:solidFill>
                <a:latin typeface="Calibri"/>
              </a:rPr>
              <a:t>AI_GENERATE_EMBEDDINGS</a:t>
            </a:r>
          </a:p>
          <a:p>
            <a:pPr algn="ctr"/>
            <a:r>
              <a:rPr sz="1200" b="0">
                <a:solidFill>
                  <a:srgbClr val="1E2329"/>
                </a:solidFill>
                <a:latin typeface="Calibri"/>
              </a:rPr>
              <a:t>EXTERNAL MODEL · ONNX Runtime</a:t>
            </a:r>
          </a:p>
        </p:txBody>
      </p:sp>
      <p:sp>
        <p:nvSpPr>
          <p:cNvPr id="14" name="Rounded Rectangle 13"/>
          <p:cNvSpPr/>
          <p:nvPr/>
        </p:nvSpPr>
        <p:spPr>
          <a:xfrm>
            <a:off x="4434840" y="4480560"/>
            <a:ext cx="3291840" cy="1234440"/>
          </a:xfrm>
          <a:prstGeom prst="roundRect">
            <a:avLst>
              <a:gd name="adj" fmla="val 6000"/>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E2329"/>
                </a:solidFill>
                <a:latin typeface="Calibri"/>
              </a:rPr>
              <a:t>AIRuntimeHost (Launchpad)</a:t>
            </a:r>
          </a:p>
          <a:p>
            <a:pPr algn="ctr"/>
            <a:r>
              <a:rPr sz="1200" b="0">
                <a:solidFill>
                  <a:srgbClr val="1E2329"/>
                </a:solidFill>
                <a:latin typeface="Calibri"/>
              </a:rPr>
              <a:t>tokenizers_cpp.dll · onnxruntime.dll</a:t>
            </a:r>
          </a:p>
          <a:p>
            <a:pPr algn="ctr"/>
            <a:r>
              <a:rPr sz="1200" b="0">
                <a:solidFill>
                  <a:srgbClr val="1E2329"/>
                </a:solidFill>
                <a:latin typeface="Calibri"/>
              </a:rPr>
              <a:t>model.onnx (384 dim.)</a:t>
            </a:r>
          </a:p>
        </p:txBody>
      </p:sp>
      <p:sp>
        <p:nvSpPr>
          <p:cNvPr id="15" name="Rounded Rectangle 14"/>
          <p:cNvSpPr/>
          <p:nvPr/>
        </p:nvSpPr>
        <p:spPr>
          <a:xfrm>
            <a:off x="8138160" y="1874519"/>
            <a:ext cx="3291840" cy="82296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E2329"/>
                </a:solidFill>
                <a:latin typeface="Calibri"/>
              </a:rPr>
              <a:t>Búsqueda híbrida</a:t>
            </a:r>
          </a:p>
          <a:p>
            <a:pPr algn="ctr"/>
            <a:r>
              <a:rPr sz="1200" b="0">
                <a:solidFill>
                  <a:srgbClr val="1E2329"/>
                </a:solidFill>
                <a:latin typeface="Calibri"/>
              </a:rPr>
              <a:t>VECTOR_DISTANCE + FREETEXTTABLE → RRF</a:t>
            </a:r>
          </a:p>
        </p:txBody>
      </p:sp>
      <p:sp>
        <p:nvSpPr>
          <p:cNvPr id="16" name="Rounded Rectangle 15"/>
          <p:cNvSpPr/>
          <p:nvPr/>
        </p:nvSpPr>
        <p:spPr>
          <a:xfrm>
            <a:off x="8138160" y="3108960"/>
            <a:ext cx="3291840" cy="960120"/>
          </a:xfrm>
          <a:prstGeom prst="roundRect">
            <a:avLst>
              <a:gd name="adj" fmla="val 6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SECURITY POLICY (FILTER)</a:t>
            </a:r>
          </a:p>
          <a:p>
            <a:pPr algn="ctr"/>
            <a:r>
              <a:rPr sz="1200" b="0">
                <a:solidFill>
                  <a:srgbClr val="FFFFFF"/>
                </a:solidFill>
                <a:latin typeface="Calibri"/>
              </a:rPr>
              <a:t>IS_MEMBER(rol del departamento)</a:t>
            </a:r>
          </a:p>
        </p:txBody>
      </p:sp>
      <p:sp>
        <p:nvSpPr>
          <p:cNvPr id="17" name="Rounded Rectangle 16"/>
          <p:cNvSpPr/>
          <p:nvPr/>
        </p:nvSpPr>
        <p:spPr>
          <a:xfrm>
            <a:off x="8138160" y="4480560"/>
            <a:ext cx="3291840" cy="123444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E2329"/>
                </a:solidFill>
                <a:latin typeface="Calibri"/>
              </a:rPr>
              <a:t>dbo.Normativas</a:t>
            </a:r>
          </a:p>
          <a:p>
            <a:pPr algn="ctr"/>
            <a:r>
              <a:rPr sz="1200" b="0">
                <a:solidFill>
                  <a:srgbClr val="1E2329"/>
                </a:solidFill>
                <a:latin typeface="Calibri"/>
              </a:rPr>
              <a:t>VECTOR(384) + índice full-text (español)</a:t>
            </a:r>
          </a:p>
          <a:p>
            <a:pPr algn="ctr"/>
            <a:r>
              <a:rPr sz="1200" b="0">
                <a:solidFill>
                  <a:srgbClr val="1E2329"/>
                </a:solidFill>
                <a:latin typeface="Calibri"/>
              </a:rPr>
              <a:t>72 fragmentos de 37 normativas</a:t>
            </a:r>
          </a:p>
        </p:txBody>
      </p:sp>
      <p:cxnSp>
        <p:nvCxnSpPr>
          <p:cNvPr id="18" name="Connector 17"/>
          <p:cNvCxnSpPr/>
          <p:nvPr/>
        </p:nvCxnSpPr>
        <p:spPr>
          <a:xfrm flipV="1">
            <a:off x="3474720" y="2286000"/>
            <a:ext cx="960120" cy="1298448"/>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80760" y="2697480"/>
            <a:ext cx="0" cy="411480"/>
          </a:xfrm>
          <a:prstGeom prst="line">
            <a:avLst/>
          </a:prstGeom>
          <a:ln w="22225">
            <a:solidFill>
              <a:srgbClr val="5B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80760" y="4069080"/>
            <a:ext cx="0" cy="411480"/>
          </a:xfrm>
          <a:prstGeom prst="line">
            <a:avLst/>
          </a:prstGeom>
          <a:ln w="22225">
            <a:solidFill>
              <a:srgbClr val="5B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726679" y="2286000"/>
            <a:ext cx="411481" cy="0"/>
          </a:xfrm>
          <a:prstGeom prst="line">
            <a:avLst/>
          </a:prstGeom>
          <a:ln w="22225">
            <a:solidFill>
              <a:srgbClr val="5B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784080" y="2697480"/>
            <a:ext cx="0" cy="411480"/>
          </a:xfrm>
          <a:prstGeom prst="line">
            <a:avLst/>
          </a:prstGeom>
          <a:ln w="22225">
            <a:solidFill>
              <a:srgbClr val="5B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84080" y="4069080"/>
            <a:ext cx="0" cy="411480"/>
          </a:xfrm>
          <a:prstGeom prst="line">
            <a:avLst/>
          </a:prstGeom>
          <a:ln w="22225">
            <a:solidFill>
              <a:srgbClr val="5B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43400" y="5760720"/>
            <a:ext cx="7132320" cy="365760"/>
          </a:xfrm>
          <a:prstGeom prst="rect">
            <a:avLst/>
          </a:prstGeom>
          <a:noFill/>
        </p:spPr>
        <p:txBody>
          <a:bodyPr wrap="square" anchor="t" lIns="0" rIns="0" tIns="0" bIns="0">
            <a:spAutoFit/>
          </a:bodyPr>
          <a:lstStyle/>
          <a:p>
            <a:pPr algn="ctr"/>
            <a:r>
              <a:rPr sz="1300" b="0" i="1">
                <a:solidFill>
                  <a:srgbClr val="5B6670"/>
                </a:solidFill>
                <a:latin typeface="Calibri"/>
              </a:rPr>
              <a:t>El texto y los vectores nunca salen del servidor</a:t>
            </a:r>
          </a:p>
        </p:txBody>
      </p:sp>
      <p:sp>
        <p:nvSpPr>
          <p:cNvPr id="25" name="TextBox 24"/>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El flujo RAG en cinco pasos</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Cada paso ocurre en el motor, salvo la redacción final</a:t>
            </a:r>
          </a:p>
        </p:txBody>
      </p:sp>
      <p:sp>
        <p:nvSpPr>
          <p:cNvPr id="4" name="Rounded Rectangle 3"/>
          <p:cNvSpPr/>
          <p:nvPr/>
        </p:nvSpPr>
        <p:spPr>
          <a:xfrm>
            <a:off x="548640" y="2468880"/>
            <a:ext cx="2011680" cy="292608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234440" y="2743200"/>
            <a:ext cx="640080" cy="64008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85800" y="3566160"/>
            <a:ext cx="1737360" cy="457200"/>
          </a:xfrm>
          <a:prstGeom prst="rect">
            <a:avLst/>
          </a:prstGeom>
          <a:noFill/>
        </p:spPr>
        <p:txBody>
          <a:bodyPr wrap="square" anchor="t" lIns="0" rIns="0" tIns="0" bIns="0">
            <a:spAutoFit/>
          </a:bodyPr>
          <a:lstStyle/>
          <a:p>
            <a:pPr algn="ctr"/>
            <a:r>
              <a:rPr sz="2000" b="1" i="0">
                <a:solidFill>
                  <a:srgbClr val="1E2329"/>
                </a:solidFill>
                <a:latin typeface="Calibri"/>
              </a:rPr>
              <a:t>Ingesta</a:t>
            </a:r>
          </a:p>
        </p:txBody>
      </p:sp>
      <p:sp>
        <p:nvSpPr>
          <p:cNvPr id="7" name="TextBox 6"/>
          <p:cNvSpPr txBox="1"/>
          <p:nvPr/>
        </p:nvSpPr>
        <p:spPr>
          <a:xfrm>
            <a:off x="685800" y="4114800"/>
            <a:ext cx="1737360" cy="1188720"/>
          </a:xfrm>
          <a:prstGeom prst="rect">
            <a:avLst/>
          </a:prstGeom>
          <a:noFill/>
        </p:spPr>
        <p:txBody>
          <a:bodyPr wrap="square" anchor="t" lIns="0" rIns="0" tIns="0" bIns="0">
            <a:spAutoFit/>
          </a:bodyPr>
          <a:lstStyle/>
          <a:p>
            <a:pPr algn="ctr"/>
            <a:r>
              <a:rPr sz="1400" b="0" i="0">
                <a:solidFill>
                  <a:srgbClr val="5B6670"/>
                </a:solidFill>
                <a:latin typeface="Calibri"/>
              </a:rPr>
              <a:t>72 fragmentos vectorizados dentro del motor (scripts 04 y 05)</a:t>
            </a:r>
          </a:p>
        </p:txBody>
      </p:sp>
      <p:cxnSp>
        <p:nvCxnSpPr>
          <p:cNvPr id="8" name="Connector 7"/>
          <p:cNvCxnSpPr/>
          <p:nvPr/>
        </p:nvCxnSpPr>
        <p:spPr>
          <a:xfrm>
            <a:off x="2578608" y="3931920"/>
            <a:ext cx="219456" cy="0"/>
          </a:xfrm>
          <a:prstGeom prst="line">
            <a:avLst/>
          </a:prstGeom>
          <a:ln w="25400">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16352" y="2468880"/>
            <a:ext cx="2011680" cy="292608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502152" y="2743200"/>
            <a:ext cx="640080" cy="64008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11" name="TextBox 10"/>
          <p:cNvSpPr txBox="1"/>
          <p:nvPr/>
        </p:nvSpPr>
        <p:spPr>
          <a:xfrm>
            <a:off x="2953512" y="3566160"/>
            <a:ext cx="1737360" cy="457200"/>
          </a:xfrm>
          <a:prstGeom prst="rect">
            <a:avLst/>
          </a:prstGeom>
          <a:noFill/>
        </p:spPr>
        <p:txBody>
          <a:bodyPr wrap="square" anchor="t" lIns="0" rIns="0" tIns="0" bIns="0">
            <a:spAutoFit/>
          </a:bodyPr>
          <a:lstStyle/>
          <a:p>
            <a:pPr algn="ctr"/>
            <a:r>
              <a:rPr sz="2000" b="1" i="0">
                <a:solidFill>
                  <a:srgbClr val="1E2329"/>
                </a:solidFill>
                <a:latin typeface="Calibri"/>
              </a:rPr>
              <a:t>Pregunta</a:t>
            </a:r>
          </a:p>
        </p:txBody>
      </p:sp>
      <p:sp>
        <p:nvSpPr>
          <p:cNvPr id="12" name="TextBox 11"/>
          <p:cNvSpPr txBox="1"/>
          <p:nvPr/>
        </p:nvSpPr>
        <p:spPr>
          <a:xfrm>
            <a:off x="2953512" y="4114800"/>
            <a:ext cx="1737360" cy="1188720"/>
          </a:xfrm>
          <a:prstGeom prst="rect">
            <a:avLst/>
          </a:prstGeom>
          <a:noFill/>
        </p:spPr>
        <p:txBody>
          <a:bodyPr wrap="square" anchor="t" lIns="0" rIns="0" tIns="0" bIns="0">
            <a:spAutoFit/>
          </a:bodyPr>
          <a:lstStyle/>
          <a:p>
            <a:pPr algn="ctr"/>
            <a:r>
              <a:rPr sz="1400" b="0" i="0">
                <a:solidFill>
                  <a:srgbClr val="5B6670"/>
                </a:solidFill>
                <a:latin typeface="Calibri"/>
              </a:rPr>
              <a:t>Copilot ejecuta el procedimiento suplantando al empleado</a:t>
            </a:r>
          </a:p>
        </p:txBody>
      </p:sp>
      <p:cxnSp>
        <p:nvCxnSpPr>
          <p:cNvPr id="13" name="Connector 12"/>
          <p:cNvCxnSpPr/>
          <p:nvPr/>
        </p:nvCxnSpPr>
        <p:spPr>
          <a:xfrm>
            <a:off x="4846320" y="3931920"/>
            <a:ext cx="219456" cy="0"/>
          </a:xfrm>
          <a:prstGeom prst="line">
            <a:avLst/>
          </a:prstGeom>
          <a:ln w="25400">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84064" y="2468880"/>
            <a:ext cx="2011680" cy="2926080"/>
          </a:xfrm>
          <a:prstGeom prst="roundRect">
            <a:avLst>
              <a:gd name="adj" fmla="val 6000"/>
            </a:avLst>
          </a:prstGeom>
          <a:solidFill>
            <a:srgbClr val="E2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769864" y="2743200"/>
            <a:ext cx="640080" cy="640080"/>
          </a:xfrm>
          <a:prstGeom prst="ellipse">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6" name="TextBox 15"/>
          <p:cNvSpPr txBox="1"/>
          <p:nvPr/>
        </p:nvSpPr>
        <p:spPr>
          <a:xfrm>
            <a:off x="5221224" y="3566160"/>
            <a:ext cx="1737360" cy="457200"/>
          </a:xfrm>
          <a:prstGeom prst="rect">
            <a:avLst/>
          </a:prstGeom>
          <a:noFill/>
        </p:spPr>
        <p:txBody>
          <a:bodyPr wrap="square" anchor="t" lIns="0" rIns="0" tIns="0" bIns="0">
            <a:spAutoFit/>
          </a:bodyPr>
          <a:lstStyle/>
          <a:p>
            <a:pPr algn="ctr"/>
            <a:r>
              <a:rPr sz="2000" b="1" i="0">
                <a:solidFill>
                  <a:srgbClr val="1E2329"/>
                </a:solidFill>
                <a:latin typeface="Calibri"/>
              </a:rPr>
              <a:t>Seguridad</a:t>
            </a:r>
          </a:p>
        </p:txBody>
      </p:sp>
      <p:sp>
        <p:nvSpPr>
          <p:cNvPr id="17" name="TextBox 16"/>
          <p:cNvSpPr txBox="1"/>
          <p:nvPr/>
        </p:nvSpPr>
        <p:spPr>
          <a:xfrm>
            <a:off x="5221224" y="4114800"/>
            <a:ext cx="1737360" cy="1188720"/>
          </a:xfrm>
          <a:prstGeom prst="rect">
            <a:avLst/>
          </a:prstGeom>
          <a:noFill/>
        </p:spPr>
        <p:txBody>
          <a:bodyPr wrap="square" anchor="t" lIns="0" rIns="0" tIns="0" bIns="0">
            <a:spAutoFit/>
          </a:bodyPr>
          <a:lstStyle/>
          <a:p>
            <a:pPr algn="ctr"/>
            <a:r>
              <a:rPr sz="1400" b="0" i="0">
                <a:solidFill>
                  <a:srgbClr val="5B6670"/>
                </a:solidFill>
                <a:latin typeface="Calibri"/>
              </a:rPr>
              <a:t>RLS descarta las filas de otros departamentos</a:t>
            </a:r>
          </a:p>
        </p:txBody>
      </p:sp>
      <p:cxnSp>
        <p:nvCxnSpPr>
          <p:cNvPr id="18" name="Connector 17"/>
          <p:cNvCxnSpPr/>
          <p:nvPr/>
        </p:nvCxnSpPr>
        <p:spPr>
          <a:xfrm>
            <a:off x="7114031" y="3931920"/>
            <a:ext cx="219457" cy="0"/>
          </a:xfrm>
          <a:prstGeom prst="line">
            <a:avLst/>
          </a:prstGeom>
          <a:ln w="25400">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51775" y="2468880"/>
            <a:ext cx="2011680" cy="292608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037575" y="2743200"/>
            <a:ext cx="640080" cy="64008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21" name="TextBox 20"/>
          <p:cNvSpPr txBox="1"/>
          <p:nvPr/>
        </p:nvSpPr>
        <p:spPr>
          <a:xfrm>
            <a:off x="7488936" y="3566160"/>
            <a:ext cx="1737360" cy="457200"/>
          </a:xfrm>
          <a:prstGeom prst="rect">
            <a:avLst/>
          </a:prstGeom>
          <a:noFill/>
        </p:spPr>
        <p:txBody>
          <a:bodyPr wrap="square" anchor="t" lIns="0" rIns="0" tIns="0" bIns="0">
            <a:spAutoFit/>
          </a:bodyPr>
          <a:lstStyle/>
          <a:p>
            <a:pPr algn="ctr"/>
            <a:r>
              <a:rPr sz="2000" b="1" i="0">
                <a:solidFill>
                  <a:srgbClr val="1E2329"/>
                </a:solidFill>
                <a:latin typeface="Calibri"/>
              </a:rPr>
              <a:t>Recuperación</a:t>
            </a:r>
          </a:p>
        </p:txBody>
      </p:sp>
      <p:sp>
        <p:nvSpPr>
          <p:cNvPr id="22" name="TextBox 21"/>
          <p:cNvSpPr txBox="1"/>
          <p:nvPr/>
        </p:nvSpPr>
        <p:spPr>
          <a:xfrm>
            <a:off x="7488936" y="4114800"/>
            <a:ext cx="1737360" cy="1188720"/>
          </a:xfrm>
          <a:prstGeom prst="rect">
            <a:avLst/>
          </a:prstGeom>
          <a:noFill/>
        </p:spPr>
        <p:txBody>
          <a:bodyPr wrap="square" anchor="t" lIns="0" rIns="0" tIns="0" bIns="0">
            <a:spAutoFit/>
          </a:bodyPr>
          <a:lstStyle/>
          <a:p>
            <a:pPr algn="ctr"/>
            <a:r>
              <a:rPr sz="1400" b="0" i="0">
                <a:solidFill>
                  <a:srgbClr val="5B6670"/>
                </a:solidFill>
                <a:latin typeface="Calibri"/>
              </a:rPr>
              <a:t>Búsqueda híbrida con RRF y fragmentos hermanos</a:t>
            </a:r>
          </a:p>
        </p:txBody>
      </p:sp>
      <p:cxnSp>
        <p:nvCxnSpPr>
          <p:cNvPr id="23" name="Connector 22"/>
          <p:cNvCxnSpPr/>
          <p:nvPr/>
        </p:nvCxnSpPr>
        <p:spPr>
          <a:xfrm>
            <a:off x="9381744" y="3931920"/>
            <a:ext cx="219456" cy="0"/>
          </a:xfrm>
          <a:prstGeom prst="line">
            <a:avLst/>
          </a:prstGeom>
          <a:ln w="25400">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19488" y="2468880"/>
            <a:ext cx="2011680" cy="292608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305288" y="2743200"/>
            <a:ext cx="640080" cy="64008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26" name="TextBox 25"/>
          <p:cNvSpPr txBox="1"/>
          <p:nvPr/>
        </p:nvSpPr>
        <p:spPr>
          <a:xfrm>
            <a:off x="9756648" y="3566160"/>
            <a:ext cx="1737360" cy="457200"/>
          </a:xfrm>
          <a:prstGeom prst="rect">
            <a:avLst/>
          </a:prstGeom>
          <a:noFill/>
        </p:spPr>
        <p:txBody>
          <a:bodyPr wrap="square" anchor="t" lIns="0" rIns="0" tIns="0" bIns="0">
            <a:spAutoFit/>
          </a:bodyPr>
          <a:lstStyle/>
          <a:p>
            <a:pPr algn="ctr"/>
            <a:r>
              <a:rPr sz="2000" b="1" i="0">
                <a:solidFill>
                  <a:srgbClr val="1E2329"/>
                </a:solidFill>
                <a:latin typeface="Calibri"/>
              </a:rPr>
              <a:t>Generación</a:t>
            </a:r>
          </a:p>
        </p:txBody>
      </p:sp>
      <p:sp>
        <p:nvSpPr>
          <p:cNvPr id="27" name="TextBox 26"/>
          <p:cNvSpPr txBox="1"/>
          <p:nvPr/>
        </p:nvSpPr>
        <p:spPr>
          <a:xfrm>
            <a:off x="9756648" y="4114800"/>
            <a:ext cx="1737360" cy="1188720"/>
          </a:xfrm>
          <a:prstGeom prst="rect">
            <a:avLst/>
          </a:prstGeom>
          <a:noFill/>
        </p:spPr>
        <p:txBody>
          <a:bodyPr wrap="square" anchor="t" lIns="0" rIns="0" tIns="0" bIns="0">
            <a:spAutoFit/>
          </a:bodyPr>
          <a:lstStyle/>
          <a:p>
            <a:pPr algn="ctr"/>
            <a:r>
              <a:rPr sz="1400" b="0" i="0">
                <a:solidFill>
                  <a:srgbClr val="5B6670"/>
                </a:solidFill>
                <a:latin typeface="Calibri"/>
              </a:rPr>
              <a:t>Copilot responde solo con lo recuperado y cita los códigos</a:t>
            </a:r>
          </a:p>
        </p:txBody>
      </p:sp>
      <p:sp>
        <p:nvSpPr>
          <p:cNvPr id="28" name="TextBox 27"/>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Embeddings 100 % locales con ONNX Runtime</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CREATE EXTERNAL MODEL … API_FORMAT = 'ONNX Runtime' · característica en preview</a:t>
            </a:r>
          </a:p>
        </p:txBody>
      </p:sp>
      <p:sp>
        <p:nvSpPr>
          <p:cNvPr id="4" name="Rounded Rectangle 3"/>
          <p:cNvSpPr/>
          <p:nvPr/>
        </p:nvSpPr>
        <p:spPr>
          <a:xfrm>
            <a:off x="548640" y="1691640"/>
            <a:ext cx="3520440" cy="274320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9202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463040" y="1920240"/>
            <a:ext cx="2468880" cy="502920"/>
          </a:xfrm>
          <a:prstGeom prst="rect">
            <a:avLst/>
          </a:prstGeom>
          <a:noFill/>
        </p:spPr>
        <p:txBody>
          <a:bodyPr wrap="square" anchor="ctr" lIns="0" rIns="0" tIns="0" bIns="0">
            <a:spAutoFit/>
          </a:bodyPr>
          <a:lstStyle/>
          <a:p>
            <a:pPr algn="l"/>
            <a:r>
              <a:rPr sz="1800" b="1" i="0">
                <a:solidFill>
                  <a:srgbClr val="1E2329"/>
                </a:solidFill>
                <a:latin typeface="Calibri"/>
              </a:rPr>
              <a:t>onnxruntime.dll 1.31.0</a:t>
            </a:r>
          </a:p>
        </p:txBody>
      </p:sp>
      <p:sp>
        <p:nvSpPr>
          <p:cNvPr id="7" name="TextBox 6"/>
          <p:cNvSpPr txBox="1"/>
          <p:nvPr/>
        </p:nvSpPr>
        <p:spPr>
          <a:xfrm>
            <a:off x="822959" y="2651760"/>
            <a:ext cx="3063240" cy="1691640"/>
          </a:xfrm>
          <a:prstGeom prst="rect">
            <a:avLst/>
          </a:prstGeom>
          <a:noFill/>
        </p:spPr>
        <p:txBody>
          <a:bodyPr wrap="square" anchor="t" lIns="0" rIns="0" tIns="0" bIns="0">
            <a:spAutoFit/>
          </a:bodyPr>
          <a:lstStyle/>
          <a:p>
            <a:pPr algn="l" marL="228600" indent="-228600">
              <a:spcAft>
                <a:spcPts val="600"/>
              </a:spcAft>
              <a:buClr>
                <a:srgbClr val="0E9F8E"/>
              </a:buClr>
              <a:buFont typeface="Arial"/>
              <a:buChar char="•"/>
            </a:pPr>
            <a:r>
              <a:rPr sz="1500" b="0" i="0">
                <a:solidFill>
                  <a:srgbClr val="1E2329"/>
                </a:solidFill>
                <a:latin typeface="Calibri"/>
              </a:rPr>
              <a:t>Paquete oficial de NuGet</a:t>
            </a:r>
          </a:p>
          <a:p>
            <a:pPr algn="l" marL="228600" indent="-228600">
              <a:spcAft>
                <a:spcPts val="600"/>
              </a:spcAft>
              <a:buClr>
                <a:srgbClr val="0E9F8E"/>
              </a:buClr>
              <a:buFont typeface="Arial"/>
              <a:buChar char="•"/>
            </a:pPr>
            <a:r>
              <a:rPr sz="1500" b="0" i="0">
                <a:solidFill>
                  <a:srgbClr val="1E2329"/>
                </a:solidFill>
                <a:latin typeface="Calibri"/>
              </a:rPr>
              <a:t>SHA-512 comprobado con NuGet</a:t>
            </a:r>
          </a:p>
          <a:p>
            <a:pPr algn="l" marL="228600" indent="-228600">
              <a:spcAft>
                <a:spcPts val="600"/>
              </a:spcAft>
              <a:buClr>
                <a:srgbClr val="0E9F8E"/>
              </a:buClr>
              <a:buFont typeface="Arial"/>
              <a:buChar char="•"/>
            </a:pPr>
            <a:r>
              <a:rPr sz="1500" b="0" i="0">
                <a:solidFill>
                  <a:srgbClr val="1E2329"/>
                </a:solidFill>
                <a:latin typeface="Calibri"/>
              </a:rPr>
              <a:t>Firma Authenticode de Microsoft</a:t>
            </a:r>
          </a:p>
        </p:txBody>
      </p:sp>
      <p:sp>
        <p:nvSpPr>
          <p:cNvPr id="8" name="Rounded Rectangle 7"/>
          <p:cNvSpPr/>
          <p:nvPr/>
        </p:nvSpPr>
        <p:spPr>
          <a:xfrm>
            <a:off x="4306824" y="1691640"/>
            <a:ext cx="3520440" cy="274320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81144" y="1920240"/>
            <a:ext cx="502920" cy="502920"/>
          </a:xfrm>
          <a:prstGeom prst="ellipse">
            <a:avLst/>
          </a:prstGeom>
          <a:solidFill>
            <a:srgbClr val="E89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5221224" y="1920240"/>
            <a:ext cx="2468880" cy="502920"/>
          </a:xfrm>
          <a:prstGeom prst="rect">
            <a:avLst/>
          </a:prstGeom>
          <a:noFill/>
        </p:spPr>
        <p:txBody>
          <a:bodyPr wrap="square" anchor="ctr" lIns="0" rIns="0" tIns="0" bIns="0">
            <a:spAutoFit/>
          </a:bodyPr>
          <a:lstStyle/>
          <a:p>
            <a:pPr algn="l"/>
            <a:r>
              <a:rPr sz="1800" b="1" i="0">
                <a:solidFill>
                  <a:srgbClr val="1E2329"/>
                </a:solidFill>
                <a:latin typeface="Calibri"/>
              </a:rPr>
              <a:t>tokenizers_cpp.dll</a:t>
            </a:r>
          </a:p>
        </p:txBody>
      </p:sp>
      <p:sp>
        <p:nvSpPr>
          <p:cNvPr id="11" name="TextBox 10"/>
          <p:cNvSpPr txBox="1"/>
          <p:nvPr/>
        </p:nvSpPr>
        <p:spPr>
          <a:xfrm>
            <a:off x="4581144" y="2651760"/>
            <a:ext cx="3063240" cy="1691640"/>
          </a:xfrm>
          <a:prstGeom prst="rect">
            <a:avLst/>
          </a:prstGeom>
          <a:noFill/>
        </p:spPr>
        <p:txBody>
          <a:bodyPr wrap="square" anchor="t" lIns="0" rIns="0" tIns="0" bIns="0">
            <a:spAutoFit/>
          </a:bodyPr>
          <a:lstStyle/>
          <a:p>
            <a:pPr algn="l" marL="228600" indent="-228600">
              <a:spcAft>
                <a:spcPts val="600"/>
              </a:spcAft>
              <a:buClr>
                <a:srgbClr val="E89A22"/>
              </a:buClr>
              <a:buFont typeface="Arial"/>
              <a:buChar char="•"/>
            </a:pPr>
            <a:r>
              <a:rPr sz="1500" b="0" i="0">
                <a:solidFill>
                  <a:srgbClr val="1E2329"/>
                </a:solidFill>
                <a:latin typeface="Calibri"/>
              </a:rPr>
              <a:t>Compilada desde código fuente revisado</a:t>
            </a:r>
          </a:p>
          <a:p>
            <a:pPr algn="l" marL="228600" indent="-228600">
              <a:spcAft>
                <a:spcPts val="600"/>
              </a:spcAft>
              <a:buClr>
                <a:srgbClr val="E89A22"/>
              </a:buClr>
              <a:buFont typeface="Arial"/>
              <a:buChar char="•"/>
            </a:pPr>
            <a:r>
              <a:rPr sz="1500" b="0" i="0">
                <a:solidFill>
                  <a:srgbClr val="1E2329"/>
                </a:solidFill>
                <a:latin typeface="Calibri"/>
              </a:rPr>
              <a:t>MSVC /MD · Rust 1.87 · tokenizers 0.21.1</a:t>
            </a:r>
          </a:p>
          <a:p>
            <a:pPr algn="l" marL="228600" indent="-228600">
              <a:spcAft>
                <a:spcPts val="600"/>
              </a:spcAft>
              <a:buClr>
                <a:srgbClr val="E89A22"/>
              </a:buClr>
              <a:buFont typeface="Arial"/>
              <a:buChar char="•"/>
            </a:pPr>
            <a:r>
              <a:rPr sz="1500" b="0" i="0">
                <a:solidFill>
                  <a:srgbClr val="1E2329"/>
                </a:solidFill>
                <a:latin typeface="Calibri"/>
              </a:rPr>
              <a:t>Exporta LoadBlobJsonAndEncode</a:t>
            </a:r>
          </a:p>
        </p:txBody>
      </p:sp>
      <p:sp>
        <p:nvSpPr>
          <p:cNvPr id="12" name="Rounded Rectangle 11"/>
          <p:cNvSpPr/>
          <p:nvPr/>
        </p:nvSpPr>
        <p:spPr>
          <a:xfrm>
            <a:off x="8065008" y="1691640"/>
            <a:ext cx="3520440" cy="274320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339328" y="19202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4" name="TextBox 13"/>
          <p:cNvSpPr txBox="1"/>
          <p:nvPr/>
        </p:nvSpPr>
        <p:spPr>
          <a:xfrm>
            <a:off x="8979408" y="1920240"/>
            <a:ext cx="2468880" cy="502920"/>
          </a:xfrm>
          <a:prstGeom prst="rect">
            <a:avLst/>
          </a:prstGeom>
          <a:noFill/>
        </p:spPr>
        <p:txBody>
          <a:bodyPr wrap="square" anchor="ctr" lIns="0" rIns="0" tIns="0" bIns="0">
            <a:spAutoFit/>
          </a:bodyPr>
          <a:lstStyle/>
          <a:p>
            <a:pPr algn="l"/>
            <a:r>
              <a:rPr sz="1800" b="1" i="0">
                <a:solidFill>
                  <a:srgbClr val="1E2329"/>
                </a:solidFill>
                <a:latin typeface="Calibri"/>
              </a:rPr>
              <a:t>all-MiniLM-L6-v2 (ONNX)</a:t>
            </a:r>
          </a:p>
        </p:txBody>
      </p:sp>
      <p:sp>
        <p:nvSpPr>
          <p:cNvPr id="15" name="TextBox 14"/>
          <p:cNvSpPr txBox="1"/>
          <p:nvPr/>
        </p:nvSpPr>
        <p:spPr>
          <a:xfrm>
            <a:off x="8339328" y="2651760"/>
            <a:ext cx="3063240" cy="1691640"/>
          </a:xfrm>
          <a:prstGeom prst="rect">
            <a:avLst/>
          </a:prstGeom>
          <a:noFill/>
        </p:spPr>
        <p:txBody>
          <a:bodyPr wrap="square" anchor="t" lIns="0" rIns="0" tIns="0" bIns="0">
            <a:spAutoFit/>
          </a:bodyPr>
          <a:lstStyle/>
          <a:p>
            <a:pPr algn="l" marL="228600" indent="-228600">
              <a:spcAft>
                <a:spcPts val="600"/>
              </a:spcAft>
              <a:buClr>
                <a:srgbClr val="0E9F8E"/>
              </a:buClr>
              <a:buFont typeface="Arial"/>
              <a:buChar char="•"/>
            </a:pPr>
            <a:r>
              <a:rPr sz="1500" b="0" i="0">
                <a:solidFill>
                  <a:srgbClr val="1E2329"/>
                </a:solidFill>
                <a:latin typeface="Calibri"/>
              </a:rPr>
              <a:t>384 dimensiones · licencia MIT</a:t>
            </a:r>
          </a:p>
          <a:p>
            <a:pPr algn="l" marL="228600" indent="-228600">
              <a:spcAft>
                <a:spcPts val="600"/>
              </a:spcAft>
              <a:buClr>
                <a:srgbClr val="0E9F8E"/>
              </a:buClr>
              <a:buFont typeface="Arial"/>
              <a:buChar char="•"/>
            </a:pPr>
            <a:r>
              <a:rPr sz="1500" b="0" i="0">
                <a:solidFill>
                  <a:srgbClr val="1E2329"/>
                </a:solidFill>
                <a:latin typeface="Calibri"/>
              </a:rPr>
              <a:t>SHA-256 comprobado con Hugging Face</a:t>
            </a:r>
          </a:p>
          <a:p>
            <a:pPr algn="l" marL="228600" indent="-228600">
              <a:spcAft>
                <a:spcPts val="600"/>
              </a:spcAft>
              <a:buClr>
                <a:srgbClr val="0E9F8E"/>
              </a:buClr>
              <a:buFont typeface="Arial"/>
              <a:buChar char="•"/>
            </a:pPr>
            <a:r>
              <a:rPr sz="1500" b="0" i="0">
                <a:solidFill>
                  <a:srgbClr val="1E2329"/>
                </a:solidFill>
                <a:latin typeface="Calibri"/>
              </a:rPr>
              <a:t>tokenizer.json sin padding</a:t>
            </a:r>
          </a:p>
        </p:txBody>
      </p:sp>
      <p:sp>
        <p:nvSpPr>
          <p:cNvPr id="16" name="TextBox 15"/>
          <p:cNvSpPr txBox="1"/>
          <p:nvPr/>
        </p:nvSpPr>
        <p:spPr>
          <a:xfrm>
            <a:off x="548640" y="4709160"/>
            <a:ext cx="11064240" cy="365760"/>
          </a:xfrm>
          <a:prstGeom prst="rect">
            <a:avLst/>
          </a:prstGeom>
          <a:noFill/>
        </p:spPr>
        <p:txBody>
          <a:bodyPr wrap="square" anchor="t" lIns="0" rIns="0" tIns="0" bIns="0">
            <a:spAutoFit/>
          </a:bodyPr>
          <a:lstStyle/>
          <a:p>
            <a:pPr algn="l"/>
            <a:r>
              <a:rPr sz="1600" b="1" i="0">
                <a:solidFill>
                  <a:srgbClr val="5B6670"/>
                </a:solidFill>
                <a:latin typeface="Calibri"/>
              </a:rPr>
              <a:t>Requisitos verificados en la instancia</a:t>
            </a:r>
          </a:p>
        </p:txBody>
      </p:sp>
      <p:sp>
        <p:nvSpPr>
          <p:cNvPr id="17" name="Rounded Rectangle 16"/>
          <p:cNvSpPr/>
          <p:nvPr/>
        </p:nvSpPr>
        <p:spPr>
          <a:xfrm>
            <a:off x="548640" y="5166360"/>
            <a:ext cx="3520440" cy="68580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E2329"/>
                </a:solidFill>
                <a:latin typeface="Calibri"/>
              </a:rPr>
              <a:t>PREVIEW_FEATURES = ON (base de datos)</a:t>
            </a:r>
          </a:p>
        </p:txBody>
      </p:sp>
      <p:sp>
        <p:nvSpPr>
          <p:cNvPr id="18" name="Rounded Rectangle 17"/>
          <p:cNvSpPr/>
          <p:nvPr/>
        </p:nvSpPr>
        <p:spPr>
          <a:xfrm>
            <a:off x="4306824" y="5166360"/>
            <a:ext cx="3520440" cy="68580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E2329"/>
                </a:solidFill>
                <a:latin typeface="Calibri"/>
              </a:rPr>
              <a:t>'external AI runtimes enabled' = 1</a:t>
            </a:r>
          </a:p>
        </p:txBody>
      </p:sp>
      <p:sp>
        <p:nvSpPr>
          <p:cNvPr id="19" name="Rounded Rectangle 18"/>
          <p:cNvSpPr/>
          <p:nvPr/>
        </p:nvSpPr>
        <p:spPr>
          <a:xfrm>
            <a:off x="8065008" y="5166360"/>
            <a:ext cx="3520440" cy="685800"/>
          </a:xfrm>
          <a:prstGeom prst="roundRect">
            <a:avLst>
              <a:gd name="adj" fmla="val 6000"/>
            </a:avLst>
          </a:prstGeom>
          <a:solidFill>
            <a:srgbClr val="FFFFFF"/>
          </a:solidFill>
          <a:ln w="15875">
            <a:solidFill>
              <a:srgbClr val="B8C2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E2329"/>
                </a:solidFill>
                <a:latin typeface="Calibri"/>
              </a:rPr>
              <a:t>Machine Learning Services (Launchpad)</a:t>
            </a:r>
          </a:p>
        </p:txBody>
      </p:sp>
      <p:sp>
        <p:nvSpPr>
          <p:cNvPr id="20" name="TextBox 19"/>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Modelo de datos</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database/03_tablas.sql · tres tablas, dos relaciones 1:N desde Departamentos</a:t>
            </a:r>
          </a:p>
        </p:txBody>
      </p:sp>
      <p:sp>
        <p:nvSpPr>
          <p:cNvPr id="4" name="Rounded Rectangle 3"/>
          <p:cNvSpPr/>
          <p:nvPr/>
        </p:nvSpPr>
        <p:spPr>
          <a:xfrm>
            <a:off x="4270248" y="1600200"/>
            <a:ext cx="3657600" cy="1572768"/>
          </a:xfrm>
          <a:prstGeom prst="roundRect">
            <a:avLst>
              <a:gd name="adj" fmla="val 4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270248" y="1600200"/>
            <a:ext cx="3657600" cy="411480"/>
          </a:xfrm>
          <a:prstGeom prst="roundRect">
            <a:avLst>
              <a:gd name="adj" fmla="val 12000"/>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407408" y="1600200"/>
            <a:ext cx="3383280" cy="411480"/>
          </a:xfrm>
          <a:prstGeom prst="rect">
            <a:avLst/>
          </a:prstGeom>
          <a:noFill/>
        </p:spPr>
        <p:txBody>
          <a:bodyPr wrap="square" anchor="ctr" lIns="0" rIns="0" tIns="0" bIns="0">
            <a:spAutoFit/>
          </a:bodyPr>
          <a:lstStyle/>
          <a:p>
            <a:pPr algn="l"/>
            <a:r>
              <a:rPr sz="1500" b="1" i="0">
                <a:solidFill>
                  <a:srgbClr val="FFFFFF"/>
                </a:solidFill>
                <a:latin typeface="Calibri"/>
              </a:rPr>
              <a:t>dbo.Departamentos</a:t>
            </a:r>
          </a:p>
        </p:txBody>
      </p:sp>
      <p:sp>
        <p:nvSpPr>
          <p:cNvPr id="7" name="TextBox 6"/>
          <p:cNvSpPr txBox="1"/>
          <p:nvPr/>
        </p:nvSpPr>
        <p:spPr>
          <a:xfrm>
            <a:off x="4379976" y="2075688"/>
            <a:ext cx="411480" cy="256032"/>
          </a:xfrm>
          <a:prstGeom prst="rect">
            <a:avLst/>
          </a:prstGeom>
          <a:noFill/>
        </p:spPr>
        <p:txBody>
          <a:bodyPr wrap="square" anchor="ctr" lIns="0" rIns="0" tIns="0" bIns="0">
            <a:spAutoFit/>
          </a:bodyPr>
          <a:lstStyle/>
          <a:p>
            <a:pPr algn="l"/>
            <a:r>
              <a:rPr sz="1000" b="1" i="0">
                <a:solidFill>
                  <a:srgbClr val="0E9F8E"/>
                </a:solidFill>
                <a:latin typeface="Calibri"/>
              </a:rPr>
              <a:t>PK</a:t>
            </a:r>
          </a:p>
        </p:txBody>
      </p:sp>
      <p:sp>
        <p:nvSpPr>
          <p:cNvPr id="8" name="TextBox 7"/>
          <p:cNvSpPr txBox="1"/>
          <p:nvPr/>
        </p:nvSpPr>
        <p:spPr>
          <a:xfrm>
            <a:off x="4773168" y="2075688"/>
            <a:ext cx="1901952" cy="256032"/>
          </a:xfrm>
          <a:prstGeom prst="rect">
            <a:avLst/>
          </a:prstGeom>
          <a:noFill/>
        </p:spPr>
        <p:txBody>
          <a:bodyPr wrap="square" anchor="ctr" lIns="0" rIns="0" tIns="0" bIns="0">
            <a:spAutoFit/>
          </a:bodyPr>
          <a:lstStyle/>
          <a:p>
            <a:pPr algn="l"/>
            <a:r>
              <a:rPr sz="1200" b="0" i="0">
                <a:solidFill>
                  <a:srgbClr val="1E2329"/>
                </a:solidFill>
                <a:latin typeface="Calibri"/>
              </a:rPr>
              <a:t>DepartamentoId</a:t>
            </a:r>
          </a:p>
        </p:txBody>
      </p:sp>
      <p:sp>
        <p:nvSpPr>
          <p:cNvPr id="9" name="TextBox 8"/>
          <p:cNvSpPr txBox="1"/>
          <p:nvPr/>
        </p:nvSpPr>
        <p:spPr>
          <a:xfrm>
            <a:off x="6537960" y="2075688"/>
            <a:ext cx="1252728" cy="256032"/>
          </a:xfrm>
          <a:prstGeom prst="rect">
            <a:avLst/>
          </a:prstGeom>
          <a:noFill/>
        </p:spPr>
        <p:txBody>
          <a:bodyPr wrap="square" anchor="ctr" lIns="0" rIns="0" tIns="0" bIns="0">
            <a:spAutoFit/>
          </a:bodyPr>
          <a:lstStyle/>
          <a:p>
            <a:pPr algn="r"/>
            <a:r>
              <a:rPr sz="1100" b="0" i="0">
                <a:solidFill>
                  <a:srgbClr val="5B6670"/>
                </a:solidFill>
                <a:latin typeface="Consolas"/>
              </a:rPr>
              <a:t>int</a:t>
            </a:r>
          </a:p>
        </p:txBody>
      </p:sp>
      <p:sp>
        <p:nvSpPr>
          <p:cNvPr id="10" name="TextBox 9"/>
          <p:cNvSpPr txBox="1"/>
          <p:nvPr/>
        </p:nvSpPr>
        <p:spPr>
          <a:xfrm>
            <a:off x="4379976" y="2331720"/>
            <a:ext cx="411480" cy="256032"/>
          </a:xfrm>
          <a:prstGeom prst="rect">
            <a:avLst/>
          </a:prstGeom>
          <a:noFill/>
        </p:spPr>
        <p:txBody>
          <a:bodyPr wrap="square" anchor="ctr" lIns="0" rIns="0" tIns="0" bIns="0">
            <a:spAutoFit/>
          </a:bodyPr>
          <a:lstStyle/>
          <a:p>
            <a:pPr algn="l"/>
            <a:r>
              <a:rPr sz="1000" b="1" i="0">
                <a:solidFill>
                  <a:srgbClr val="5B6670"/>
                </a:solidFill>
                <a:latin typeface="Calibri"/>
              </a:rPr>
              <a:t>UK</a:t>
            </a:r>
          </a:p>
        </p:txBody>
      </p:sp>
      <p:sp>
        <p:nvSpPr>
          <p:cNvPr id="11" name="TextBox 10"/>
          <p:cNvSpPr txBox="1"/>
          <p:nvPr/>
        </p:nvSpPr>
        <p:spPr>
          <a:xfrm>
            <a:off x="4773168" y="2331720"/>
            <a:ext cx="1901952" cy="256032"/>
          </a:xfrm>
          <a:prstGeom prst="rect">
            <a:avLst/>
          </a:prstGeom>
          <a:noFill/>
        </p:spPr>
        <p:txBody>
          <a:bodyPr wrap="square" anchor="ctr" lIns="0" rIns="0" tIns="0" bIns="0">
            <a:spAutoFit/>
          </a:bodyPr>
          <a:lstStyle/>
          <a:p>
            <a:pPr algn="l"/>
            <a:r>
              <a:rPr sz="1200" b="0" i="0">
                <a:solidFill>
                  <a:srgbClr val="1E2329"/>
                </a:solidFill>
                <a:latin typeface="Calibri"/>
              </a:rPr>
              <a:t>Nombre</a:t>
            </a:r>
          </a:p>
        </p:txBody>
      </p:sp>
      <p:sp>
        <p:nvSpPr>
          <p:cNvPr id="12" name="TextBox 11"/>
          <p:cNvSpPr txBox="1"/>
          <p:nvPr/>
        </p:nvSpPr>
        <p:spPr>
          <a:xfrm>
            <a:off x="6537960" y="2331720"/>
            <a:ext cx="1252728" cy="256032"/>
          </a:xfrm>
          <a:prstGeom prst="rect">
            <a:avLst/>
          </a:prstGeom>
          <a:noFill/>
        </p:spPr>
        <p:txBody>
          <a:bodyPr wrap="square" anchor="ctr" lIns="0" rIns="0" tIns="0" bIns="0">
            <a:spAutoFit/>
          </a:bodyPr>
          <a:lstStyle/>
          <a:p>
            <a:pPr algn="r"/>
            <a:r>
              <a:rPr sz="1100" b="0" i="0">
                <a:solidFill>
                  <a:srgbClr val="5B6670"/>
                </a:solidFill>
                <a:latin typeface="Consolas"/>
              </a:rPr>
              <a:t>nvarchar(100)</a:t>
            </a:r>
          </a:p>
        </p:txBody>
      </p:sp>
      <p:sp>
        <p:nvSpPr>
          <p:cNvPr id="13" name="TextBox 12"/>
          <p:cNvSpPr txBox="1"/>
          <p:nvPr/>
        </p:nvSpPr>
        <p:spPr>
          <a:xfrm>
            <a:off x="4773168" y="2587752"/>
            <a:ext cx="1901952" cy="256032"/>
          </a:xfrm>
          <a:prstGeom prst="rect">
            <a:avLst/>
          </a:prstGeom>
          <a:noFill/>
        </p:spPr>
        <p:txBody>
          <a:bodyPr wrap="square" anchor="ctr" lIns="0" rIns="0" tIns="0" bIns="0">
            <a:spAutoFit/>
          </a:bodyPr>
          <a:lstStyle/>
          <a:p>
            <a:pPr algn="l"/>
            <a:r>
              <a:rPr sz="1200" b="1" i="0">
                <a:solidFill>
                  <a:srgbClr val="0E9F8E"/>
                </a:solidFill>
                <a:latin typeface="Calibri"/>
              </a:rPr>
              <a:t>RolBD</a:t>
            </a:r>
          </a:p>
        </p:txBody>
      </p:sp>
      <p:sp>
        <p:nvSpPr>
          <p:cNvPr id="14" name="TextBox 13"/>
          <p:cNvSpPr txBox="1"/>
          <p:nvPr/>
        </p:nvSpPr>
        <p:spPr>
          <a:xfrm>
            <a:off x="6537960" y="2587752"/>
            <a:ext cx="1252728" cy="256032"/>
          </a:xfrm>
          <a:prstGeom prst="rect">
            <a:avLst/>
          </a:prstGeom>
          <a:noFill/>
        </p:spPr>
        <p:txBody>
          <a:bodyPr wrap="square" anchor="ctr" lIns="0" rIns="0" tIns="0" bIns="0">
            <a:spAutoFit/>
          </a:bodyPr>
          <a:lstStyle/>
          <a:p>
            <a:pPr algn="r"/>
            <a:r>
              <a:rPr sz="1100" b="0" i="0">
                <a:solidFill>
                  <a:srgbClr val="5B6670"/>
                </a:solidFill>
                <a:latin typeface="Consolas"/>
              </a:rPr>
              <a:t>sysname</a:t>
            </a:r>
          </a:p>
        </p:txBody>
      </p:sp>
      <p:sp>
        <p:nvSpPr>
          <p:cNvPr id="15" name="TextBox 14"/>
          <p:cNvSpPr txBox="1"/>
          <p:nvPr/>
        </p:nvSpPr>
        <p:spPr>
          <a:xfrm>
            <a:off x="4773168" y="2843784"/>
            <a:ext cx="1901952" cy="256032"/>
          </a:xfrm>
          <a:prstGeom prst="rect">
            <a:avLst/>
          </a:prstGeom>
          <a:noFill/>
        </p:spPr>
        <p:txBody>
          <a:bodyPr wrap="square" anchor="ctr" lIns="0" rIns="0" tIns="0" bIns="0">
            <a:spAutoFit/>
          </a:bodyPr>
          <a:lstStyle/>
          <a:p>
            <a:pPr algn="l"/>
            <a:r>
              <a:rPr sz="1200" b="0" i="0">
                <a:solidFill>
                  <a:srgbClr val="1E2329"/>
                </a:solidFill>
                <a:latin typeface="Calibri"/>
              </a:rPr>
              <a:t>EsGeneral</a:t>
            </a:r>
          </a:p>
        </p:txBody>
      </p:sp>
      <p:sp>
        <p:nvSpPr>
          <p:cNvPr id="16" name="TextBox 15"/>
          <p:cNvSpPr txBox="1"/>
          <p:nvPr/>
        </p:nvSpPr>
        <p:spPr>
          <a:xfrm>
            <a:off x="6537960" y="2843784"/>
            <a:ext cx="1252728" cy="256032"/>
          </a:xfrm>
          <a:prstGeom prst="rect">
            <a:avLst/>
          </a:prstGeom>
          <a:noFill/>
        </p:spPr>
        <p:txBody>
          <a:bodyPr wrap="square" anchor="ctr" lIns="0" rIns="0" tIns="0" bIns="0">
            <a:spAutoFit/>
          </a:bodyPr>
          <a:lstStyle/>
          <a:p>
            <a:pPr algn="r"/>
            <a:r>
              <a:rPr sz="1100" b="0" i="0">
                <a:solidFill>
                  <a:srgbClr val="5B6670"/>
                </a:solidFill>
                <a:latin typeface="Consolas"/>
              </a:rPr>
              <a:t>bit</a:t>
            </a:r>
          </a:p>
        </p:txBody>
      </p:sp>
      <p:sp>
        <p:nvSpPr>
          <p:cNvPr id="17" name="Rounded Rectangle 16"/>
          <p:cNvSpPr/>
          <p:nvPr/>
        </p:nvSpPr>
        <p:spPr>
          <a:xfrm>
            <a:off x="548640" y="3657600"/>
            <a:ext cx="3657600" cy="2596896"/>
          </a:xfrm>
          <a:prstGeom prst="roundRect">
            <a:avLst>
              <a:gd name="adj" fmla="val 4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48640" y="3657600"/>
            <a:ext cx="3657600" cy="411480"/>
          </a:xfrm>
          <a:prstGeom prst="roundRect">
            <a:avLst>
              <a:gd name="adj" fmla="val 12000"/>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3657600"/>
            <a:ext cx="3383280" cy="411480"/>
          </a:xfrm>
          <a:prstGeom prst="rect">
            <a:avLst/>
          </a:prstGeom>
          <a:noFill/>
        </p:spPr>
        <p:txBody>
          <a:bodyPr wrap="square" anchor="ctr" lIns="0" rIns="0" tIns="0" bIns="0">
            <a:spAutoFit/>
          </a:bodyPr>
          <a:lstStyle/>
          <a:p>
            <a:pPr algn="l"/>
            <a:r>
              <a:rPr sz="1500" b="1" i="0">
                <a:solidFill>
                  <a:srgbClr val="FFFFFF"/>
                </a:solidFill>
                <a:latin typeface="Calibri"/>
              </a:rPr>
              <a:t>dbo.Empleados</a:t>
            </a:r>
          </a:p>
        </p:txBody>
      </p:sp>
      <p:sp>
        <p:nvSpPr>
          <p:cNvPr id="20" name="TextBox 19"/>
          <p:cNvSpPr txBox="1"/>
          <p:nvPr/>
        </p:nvSpPr>
        <p:spPr>
          <a:xfrm>
            <a:off x="658368" y="4133087"/>
            <a:ext cx="411480" cy="256032"/>
          </a:xfrm>
          <a:prstGeom prst="rect">
            <a:avLst/>
          </a:prstGeom>
          <a:noFill/>
        </p:spPr>
        <p:txBody>
          <a:bodyPr wrap="square" anchor="ctr" lIns="0" rIns="0" tIns="0" bIns="0">
            <a:spAutoFit/>
          </a:bodyPr>
          <a:lstStyle/>
          <a:p>
            <a:pPr algn="l"/>
            <a:r>
              <a:rPr sz="1000" b="1" i="0">
                <a:solidFill>
                  <a:srgbClr val="0E9F8E"/>
                </a:solidFill>
                <a:latin typeface="Calibri"/>
              </a:rPr>
              <a:t>PK</a:t>
            </a:r>
          </a:p>
        </p:txBody>
      </p:sp>
      <p:sp>
        <p:nvSpPr>
          <p:cNvPr id="21" name="TextBox 20"/>
          <p:cNvSpPr txBox="1"/>
          <p:nvPr/>
        </p:nvSpPr>
        <p:spPr>
          <a:xfrm>
            <a:off x="1051560" y="4133087"/>
            <a:ext cx="1901952" cy="256032"/>
          </a:xfrm>
          <a:prstGeom prst="rect">
            <a:avLst/>
          </a:prstGeom>
          <a:noFill/>
        </p:spPr>
        <p:txBody>
          <a:bodyPr wrap="square" anchor="ctr" lIns="0" rIns="0" tIns="0" bIns="0">
            <a:spAutoFit/>
          </a:bodyPr>
          <a:lstStyle/>
          <a:p>
            <a:pPr algn="l"/>
            <a:r>
              <a:rPr sz="1200" b="0" i="0">
                <a:solidFill>
                  <a:srgbClr val="1E2329"/>
                </a:solidFill>
                <a:latin typeface="Calibri"/>
              </a:rPr>
              <a:t>EmpleadoId</a:t>
            </a:r>
          </a:p>
        </p:txBody>
      </p:sp>
      <p:sp>
        <p:nvSpPr>
          <p:cNvPr id="22" name="TextBox 21"/>
          <p:cNvSpPr txBox="1"/>
          <p:nvPr/>
        </p:nvSpPr>
        <p:spPr>
          <a:xfrm>
            <a:off x="2816352" y="4133087"/>
            <a:ext cx="1252728" cy="256032"/>
          </a:xfrm>
          <a:prstGeom prst="rect">
            <a:avLst/>
          </a:prstGeom>
          <a:noFill/>
        </p:spPr>
        <p:txBody>
          <a:bodyPr wrap="square" anchor="ctr" lIns="0" rIns="0" tIns="0" bIns="0">
            <a:spAutoFit/>
          </a:bodyPr>
          <a:lstStyle/>
          <a:p>
            <a:pPr algn="r"/>
            <a:r>
              <a:rPr sz="1100" b="0" i="0">
                <a:solidFill>
                  <a:srgbClr val="5B6670"/>
                </a:solidFill>
                <a:latin typeface="Consolas"/>
              </a:rPr>
              <a:t>int identity</a:t>
            </a:r>
          </a:p>
        </p:txBody>
      </p:sp>
      <p:sp>
        <p:nvSpPr>
          <p:cNvPr id="23" name="TextBox 22"/>
          <p:cNvSpPr txBox="1"/>
          <p:nvPr/>
        </p:nvSpPr>
        <p:spPr>
          <a:xfrm>
            <a:off x="1051560" y="4389120"/>
            <a:ext cx="1901952" cy="256032"/>
          </a:xfrm>
          <a:prstGeom prst="rect">
            <a:avLst/>
          </a:prstGeom>
          <a:noFill/>
        </p:spPr>
        <p:txBody>
          <a:bodyPr wrap="square" anchor="ctr" lIns="0" rIns="0" tIns="0" bIns="0">
            <a:spAutoFit/>
          </a:bodyPr>
          <a:lstStyle/>
          <a:p>
            <a:pPr algn="l"/>
            <a:r>
              <a:rPr sz="1200" b="0" i="0">
                <a:solidFill>
                  <a:srgbClr val="1E2329"/>
                </a:solidFill>
                <a:latin typeface="Calibri"/>
              </a:rPr>
              <a:t>Nombre</a:t>
            </a:r>
          </a:p>
        </p:txBody>
      </p:sp>
      <p:sp>
        <p:nvSpPr>
          <p:cNvPr id="24" name="TextBox 23"/>
          <p:cNvSpPr txBox="1"/>
          <p:nvPr/>
        </p:nvSpPr>
        <p:spPr>
          <a:xfrm>
            <a:off x="2816352" y="4389120"/>
            <a:ext cx="1252728" cy="256032"/>
          </a:xfrm>
          <a:prstGeom prst="rect">
            <a:avLst/>
          </a:prstGeom>
          <a:noFill/>
        </p:spPr>
        <p:txBody>
          <a:bodyPr wrap="square" anchor="ctr" lIns="0" rIns="0" tIns="0" bIns="0">
            <a:spAutoFit/>
          </a:bodyPr>
          <a:lstStyle/>
          <a:p>
            <a:pPr algn="r"/>
            <a:r>
              <a:rPr sz="1100" b="0" i="0">
                <a:solidFill>
                  <a:srgbClr val="5B6670"/>
                </a:solidFill>
                <a:latin typeface="Consolas"/>
              </a:rPr>
              <a:t>nvarchar(100)</a:t>
            </a:r>
          </a:p>
        </p:txBody>
      </p:sp>
      <p:sp>
        <p:nvSpPr>
          <p:cNvPr id="25" name="TextBox 24"/>
          <p:cNvSpPr txBox="1"/>
          <p:nvPr/>
        </p:nvSpPr>
        <p:spPr>
          <a:xfrm>
            <a:off x="1051560" y="4645152"/>
            <a:ext cx="1901952" cy="256032"/>
          </a:xfrm>
          <a:prstGeom prst="rect">
            <a:avLst/>
          </a:prstGeom>
          <a:noFill/>
        </p:spPr>
        <p:txBody>
          <a:bodyPr wrap="square" anchor="ctr" lIns="0" rIns="0" tIns="0" bIns="0">
            <a:spAutoFit/>
          </a:bodyPr>
          <a:lstStyle/>
          <a:p>
            <a:pPr algn="l"/>
            <a:r>
              <a:rPr sz="1200" b="0" i="0">
                <a:solidFill>
                  <a:srgbClr val="1E2329"/>
                </a:solidFill>
                <a:latin typeface="Calibri"/>
              </a:rPr>
              <a:t>Apellidos</a:t>
            </a:r>
          </a:p>
        </p:txBody>
      </p:sp>
      <p:sp>
        <p:nvSpPr>
          <p:cNvPr id="26" name="TextBox 25"/>
          <p:cNvSpPr txBox="1"/>
          <p:nvPr/>
        </p:nvSpPr>
        <p:spPr>
          <a:xfrm>
            <a:off x="2816352" y="4645152"/>
            <a:ext cx="1252728" cy="256032"/>
          </a:xfrm>
          <a:prstGeom prst="rect">
            <a:avLst/>
          </a:prstGeom>
          <a:noFill/>
        </p:spPr>
        <p:txBody>
          <a:bodyPr wrap="square" anchor="ctr" lIns="0" rIns="0" tIns="0" bIns="0">
            <a:spAutoFit/>
          </a:bodyPr>
          <a:lstStyle/>
          <a:p>
            <a:pPr algn="r"/>
            <a:r>
              <a:rPr sz="1100" b="0" i="0">
                <a:solidFill>
                  <a:srgbClr val="5B6670"/>
                </a:solidFill>
                <a:latin typeface="Consolas"/>
              </a:rPr>
              <a:t>nvarchar(150)</a:t>
            </a:r>
          </a:p>
        </p:txBody>
      </p:sp>
      <p:sp>
        <p:nvSpPr>
          <p:cNvPr id="27" name="TextBox 26"/>
          <p:cNvSpPr txBox="1"/>
          <p:nvPr/>
        </p:nvSpPr>
        <p:spPr>
          <a:xfrm>
            <a:off x="658368" y="4901183"/>
            <a:ext cx="411480" cy="256032"/>
          </a:xfrm>
          <a:prstGeom prst="rect">
            <a:avLst/>
          </a:prstGeom>
          <a:noFill/>
        </p:spPr>
        <p:txBody>
          <a:bodyPr wrap="square" anchor="ctr" lIns="0" rIns="0" tIns="0" bIns="0">
            <a:spAutoFit/>
          </a:bodyPr>
          <a:lstStyle/>
          <a:p>
            <a:pPr algn="l"/>
            <a:r>
              <a:rPr sz="1000" b="1" i="0">
                <a:solidFill>
                  <a:srgbClr val="5B6670"/>
                </a:solidFill>
                <a:latin typeface="Calibri"/>
              </a:rPr>
              <a:t>UK</a:t>
            </a:r>
          </a:p>
        </p:txBody>
      </p:sp>
      <p:sp>
        <p:nvSpPr>
          <p:cNvPr id="28" name="TextBox 27"/>
          <p:cNvSpPr txBox="1"/>
          <p:nvPr/>
        </p:nvSpPr>
        <p:spPr>
          <a:xfrm>
            <a:off x="1051560" y="4901183"/>
            <a:ext cx="1901952" cy="256032"/>
          </a:xfrm>
          <a:prstGeom prst="rect">
            <a:avLst/>
          </a:prstGeom>
          <a:noFill/>
        </p:spPr>
        <p:txBody>
          <a:bodyPr wrap="square" anchor="ctr" lIns="0" rIns="0" tIns="0" bIns="0">
            <a:spAutoFit/>
          </a:bodyPr>
          <a:lstStyle/>
          <a:p>
            <a:pPr algn="l"/>
            <a:r>
              <a:rPr sz="1200" b="0" i="0">
                <a:solidFill>
                  <a:srgbClr val="1E2329"/>
                </a:solidFill>
                <a:latin typeface="Calibri"/>
              </a:rPr>
              <a:t>Email</a:t>
            </a:r>
          </a:p>
        </p:txBody>
      </p:sp>
      <p:sp>
        <p:nvSpPr>
          <p:cNvPr id="29" name="TextBox 28"/>
          <p:cNvSpPr txBox="1"/>
          <p:nvPr/>
        </p:nvSpPr>
        <p:spPr>
          <a:xfrm>
            <a:off x="2816352" y="4901183"/>
            <a:ext cx="1252728" cy="256032"/>
          </a:xfrm>
          <a:prstGeom prst="rect">
            <a:avLst/>
          </a:prstGeom>
          <a:noFill/>
        </p:spPr>
        <p:txBody>
          <a:bodyPr wrap="square" anchor="ctr" lIns="0" rIns="0" tIns="0" bIns="0">
            <a:spAutoFit/>
          </a:bodyPr>
          <a:lstStyle/>
          <a:p>
            <a:pPr algn="r"/>
            <a:r>
              <a:rPr sz="1100" b="0" i="0">
                <a:solidFill>
                  <a:srgbClr val="5B6670"/>
                </a:solidFill>
                <a:latin typeface="Consolas"/>
              </a:rPr>
              <a:t>nvarchar(200)</a:t>
            </a:r>
          </a:p>
        </p:txBody>
      </p:sp>
      <p:sp>
        <p:nvSpPr>
          <p:cNvPr id="30" name="TextBox 29"/>
          <p:cNvSpPr txBox="1"/>
          <p:nvPr/>
        </p:nvSpPr>
        <p:spPr>
          <a:xfrm>
            <a:off x="1051560" y="5157216"/>
            <a:ext cx="1901952" cy="256032"/>
          </a:xfrm>
          <a:prstGeom prst="rect">
            <a:avLst/>
          </a:prstGeom>
          <a:noFill/>
        </p:spPr>
        <p:txBody>
          <a:bodyPr wrap="square" anchor="ctr" lIns="0" rIns="0" tIns="0" bIns="0">
            <a:spAutoFit/>
          </a:bodyPr>
          <a:lstStyle/>
          <a:p>
            <a:pPr algn="l"/>
            <a:r>
              <a:rPr sz="1200" b="0" i="0">
                <a:solidFill>
                  <a:srgbClr val="1E2329"/>
                </a:solidFill>
                <a:latin typeface="Calibri"/>
              </a:rPr>
              <a:t>Puesto</a:t>
            </a:r>
          </a:p>
        </p:txBody>
      </p:sp>
      <p:sp>
        <p:nvSpPr>
          <p:cNvPr id="31" name="TextBox 30"/>
          <p:cNvSpPr txBox="1"/>
          <p:nvPr/>
        </p:nvSpPr>
        <p:spPr>
          <a:xfrm>
            <a:off x="2816352" y="5157216"/>
            <a:ext cx="1252728" cy="256032"/>
          </a:xfrm>
          <a:prstGeom prst="rect">
            <a:avLst/>
          </a:prstGeom>
          <a:noFill/>
        </p:spPr>
        <p:txBody>
          <a:bodyPr wrap="square" anchor="ctr" lIns="0" rIns="0" tIns="0" bIns="0">
            <a:spAutoFit/>
          </a:bodyPr>
          <a:lstStyle/>
          <a:p>
            <a:pPr algn="r"/>
            <a:r>
              <a:rPr sz="1100" b="0" i="0">
                <a:solidFill>
                  <a:srgbClr val="5B6670"/>
                </a:solidFill>
                <a:latin typeface="Consolas"/>
              </a:rPr>
              <a:t>nvarchar(100)</a:t>
            </a:r>
          </a:p>
        </p:txBody>
      </p:sp>
      <p:sp>
        <p:nvSpPr>
          <p:cNvPr id="32" name="TextBox 31"/>
          <p:cNvSpPr txBox="1"/>
          <p:nvPr/>
        </p:nvSpPr>
        <p:spPr>
          <a:xfrm>
            <a:off x="1051560" y="5413248"/>
            <a:ext cx="1901952" cy="256032"/>
          </a:xfrm>
          <a:prstGeom prst="rect">
            <a:avLst/>
          </a:prstGeom>
          <a:noFill/>
        </p:spPr>
        <p:txBody>
          <a:bodyPr wrap="square" anchor="ctr" lIns="0" rIns="0" tIns="0" bIns="0">
            <a:spAutoFit/>
          </a:bodyPr>
          <a:lstStyle/>
          <a:p>
            <a:pPr algn="l"/>
            <a:r>
              <a:rPr sz="1200" b="0" i="0">
                <a:solidFill>
                  <a:srgbClr val="1E2329"/>
                </a:solidFill>
                <a:latin typeface="Calibri"/>
              </a:rPr>
              <a:t>FechaAlta</a:t>
            </a:r>
          </a:p>
        </p:txBody>
      </p:sp>
      <p:sp>
        <p:nvSpPr>
          <p:cNvPr id="33" name="TextBox 32"/>
          <p:cNvSpPr txBox="1"/>
          <p:nvPr/>
        </p:nvSpPr>
        <p:spPr>
          <a:xfrm>
            <a:off x="2816352" y="5413248"/>
            <a:ext cx="1252728" cy="256032"/>
          </a:xfrm>
          <a:prstGeom prst="rect">
            <a:avLst/>
          </a:prstGeom>
          <a:noFill/>
        </p:spPr>
        <p:txBody>
          <a:bodyPr wrap="square" anchor="ctr" lIns="0" rIns="0" tIns="0" bIns="0">
            <a:spAutoFit/>
          </a:bodyPr>
          <a:lstStyle/>
          <a:p>
            <a:pPr algn="r"/>
            <a:r>
              <a:rPr sz="1100" b="0" i="0">
                <a:solidFill>
                  <a:srgbClr val="5B6670"/>
                </a:solidFill>
                <a:latin typeface="Consolas"/>
              </a:rPr>
              <a:t>date</a:t>
            </a:r>
          </a:p>
        </p:txBody>
      </p:sp>
      <p:sp>
        <p:nvSpPr>
          <p:cNvPr id="34" name="TextBox 33"/>
          <p:cNvSpPr txBox="1"/>
          <p:nvPr/>
        </p:nvSpPr>
        <p:spPr>
          <a:xfrm>
            <a:off x="658368" y="5669279"/>
            <a:ext cx="411480" cy="256032"/>
          </a:xfrm>
          <a:prstGeom prst="rect">
            <a:avLst/>
          </a:prstGeom>
          <a:noFill/>
        </p:spPr>
        <p:txBody>
          <a:bodyPr wrap="square" anchor="ctr" lIns="0" rIns="0" tIns="0" bIns="0">
            <a:spAutoFit/>
          </a:bodyPr>
          <a:lstStyle/>
          <a:p>
            <a:pPr algn="l"/>
            <a:r>
              <a:rPr sz="1000" b="1" i="0">
                <a:solidFill>
                  <a:srgbClr val="E89A22"/>
                </a:solidFill>
                <a:latin typeface="Calibri"/>
              </a:rPr>
              <a:t>FK</a:t>
            </a:r>
          </a:p>
        </p:txBody>
      </p:sp>
      <p:sp>
        <p:nvSpPr>
          <p:cNvPr id="35" name="TextBox 34"/>
          <p:cNvSpPr txBox="1"/>
          <p:nvPr/>
        </p:nvSpPr>
        <p:spPr>
          <a:xfrm>
            <a:off x="1051560" y="5669279"/>
            <a:ext cx="1901952" cy="256032"/>
          </a:xfrm>
          <a:prstGeom prst="rect">
            <a:avLst/>
          </a:prstGeom>
          <a:noFill/>
        </p:spPr>
        <p:txBody>
          <a:bodyPr wrap="square" anchor="ctr" lIns="0" rIns="0" tIns="0" bIns="0">
            <a:spAutoFit/>
          </a:bodyPr>
          <a:lstStyle/>
          <a:p>
            <a:pPr algn="l"/>
            <a:r>
              <a:rPr sz="1200" b="0" i="0">
                <a:solidFill>
                  <a:srgbClr val="1E2329"/>
                </a:solidFill>
                <a:latin typeface="Calibri"/>
              </a:rPr>
              <a:t>DepartamentoId</a:t>
            </a:r>
          </a:p>
        </p:txBody>
      </p:sp>
      <p:sp>
        <p:nvSpPr>
          <p:cNvPr id="36" name="TextBox 35"/>
          <p:cNvSpPr txBox="1"/>
          <p:nvPr/>
        </p:nvSpPr>
        <p:spPr>
          <a:xfrm>
            <a:off x="2816352" y="5669279"/>
            <a:ext cx="1252728" cy="256032"/>
          </a:xfrm>
          <a:prstGeom prst="rect">
            <a:avLst/>
          </a:prstGeom>
          <a:noFill/>
        </p:spPr>
        <p:txBody>
          <a:bodyPr wrap="square" anchor="ctr" lIns="0" rIns="0" tIns="0" bIns="0">
            <a:spAutoFit/>
          </a:bodyPr>
          <a:lstStyle/>
          <a:p>
            <a:pPr algn="r"/>
            <a:r>
              <a:rPr sz="1100" b="0" i="0">
                <a:solidFill>
                  <a:srgbClr val="5B6670"/>
                </a:solidFill>
                <a:latin typeface="Consolas"/>
              </a:rPr>
              <a:t>int</a:t>
            </a:r>
          </a:p>
        </p:txBody>
      </p:sp>
      <p:sp>
        <p:nvSpPr>
          <p:cNvPr id="37" name="TextBox 36"/>
          <p:cNvSpPr txBox="1"/>
          <p:nvPr/>
        </p:nvSpPr>
        <p:spPr>
          <a:xfrm>
            <a:off x="1051560" y="5925312"/>
            <a:ext cx="1901952" cy="256032"/>
          </a:xfrm>
          <a:prstGeom prst="rect">
            <a:avLst/>
          </a:prstGeom>
          <a:noFill/>
        </p:spPr>
        <p:txBody>
          <a:bodyPr wrap="square" anchor="ctr" lIns="0" rIns="0" tIns="0" bIns="0">
            <a:spAutoFit/>
          </a:bodyPr>
          <a:lstStyle/>
          <a:p>
            <a:pPr algn="l"/>
            <a:r>
              <a:rPr sz="1200" b="0" i="0">
                <a:solidFill>
                  <a:srgbClr val="1E2329"/>
                </a:solidFill>
                <a:latin typeface="Calibri"/>
              </a:rPr>
              <a:t>UsuarioBD</a:t>
            </a:r>
          </a:p>
        </p:txBody>
      </p:sp>
      <p:sp>
        <p:nvSpPr>
          <p:cNvPr id="38" name="TextBox 37"/>
          <p:cNvSpPr txBox="1"/>
          <p:nvPr/>
        </p:nvSpPr>
        <p:spPr>
          <a:xfrm>
            <a:off x="2816352" y="5925312"/>
            <a:ext cx="1252728" cy="256032"/>
          </a:xfrm>
          <a:prstGeom prst="rect">
            <a:avLst/>
          </a:prstGeom>
          <a:noFill/>
        </p:spPr>
        <p:txBody>
          <a:bodyPr wrap="square" anchor="ctr" lIns="0" rIns="0" tIns="0" bIns="0">
            <a:spAutoFit/>
          </a:bodyPr>
          <a:lstStyle/>
          <a:p>
            <a:pPr algn="r"/>
            <a:r>
              <a:rPr sz="1100" b="0" i="0">
                <a:solidFill>
                  <a:srgbClr val="5B6670"/>
                </a:solidFill>
                <a:latin typeface="Consolas"/>
              </a:rPr>
              <a:t>sysname null</a:t>
            </a:r>
          </a:p>
        </p:txBody>
      </p:sp>
      <p:sp>
        <p:nvSpPr>
          <p:cNvPr id="39" name="Rounded Rectangle 38"/>
          <p:cNvSpPr/>
          <p:nvPr/>
        </p:nvSpPr>
        <p:spPr>
          <a:xfrm>
            <a:off x="7982712" y="3657600"/>
            <a:ext cx="3657600" cy="2340864"/>
          </a:xfrm>
          <a:prstGeom prst="roundRect">
            <a:avLst>
              <a:gd name="adj" fmla="val 4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7982712" y="3657600"/>
            <a:ext cx="3657600" cy="411480"/>
          </a:xfrm>
          <a:prstGeom prst="roundRect">
            <a:avLst>
              <a:gd name="adj" fmla="val 12000"/>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119872" y="3657600"/>
            <a:ext cx="3383280" cy="411480"/>
          </a:xfrm>
          <a:prstGeom prst="rect">
            <a:avLst/>
          </a:prstGeom>
          <a:noFill/>
        </p:spPr>
        <p:txBody>
          <a:bodyPr wrap="square" anchor="ctr" lIns="0" rIns="0" tIns="0" bIns="0">
            <a:spAutoFit/>
          </a:bodyPr>
          <a:lstStyle/>
          <a:p>
            <a:pPr algn="l"/>
            <a:r>
              <a:rPr sz="1500" b="1" i="0">
                <a:solidFill>
                  <a:srgbClr val="FFFFFF"/>
                </a:solidFill>
                <a:latin typeface="Calibri"/>
              </a:rPr>
              <a:t>dbo.Normativas</a:t>
            </a:r>
          </a:p>
        </p:txBody>
      </p:sp>
      <p:sp>
        <p:nvSpPr>
          <p:cNvPr id="42" name="TextBox 41"/>
          <p:cNvSpPr txBox="1"/>
          <p:nvPr/>
        </p:nvSpPr>
        <p:spPr>
          <a:xfrm>
            <a:off x="8092440" y="4133087"/>
            <a:ext cx="411480" cy="256032"/>
          </a:xfrm>
          <a:prstGeom prst="rect">
            <a:avLst/>
          </a:prstGeom>
          <a:noFill/>
        </p:spPr>
        <p:txBody>
          <a:bodyPr wrap="square" anchor="ctr" lIns="0" rIns="0" tIns="0" bIns="0">
            <a:spAutoFit/>
          </a:bodyPr>
          <a:lstStyle/>
          <a:p>
            <a:pPr algn="l"/>
            <a:r>
              <a:rPr sz="1000" b="1" i="0">
                <a:solidFill>
                  <a:srgbClr val="0E9F8E"/>
                </a:solidFill>
                <a:latin typeface="Calibri"/>
              </a:rPr>
              <a:t>PK</a:t>
            </a:r>
          </a:p>
        </p:txBody>
      </p:sp>
      <p:sp>
        <p:nvSpPr>
          <p:cNvPr id="43" name="TextBox 42"/>
          <p:cNvSpPr txBox="1"/>
          <p:nvPr/>
        </p:nvSpPr>
        <p:spPr>
          <a:xfrm>
            <a:off x="8485632" y="4133087"/>
            <a:ext cx="1901952" cy="256032"/>
          </a:xfrm>
          <a:prstGeom prst="rect">
            <a:avLst/>
          </a:prstGeom>
          <a:noFill/>
        </p:spPr>
        <p:txBody>
          <a:bodyPr wrap="square" anchor="ctr" lIns="0" rIns="0" tIns="0" bIns="0">
            <a:spAutoFit/>
          </a:bodyPr>
          <a:lstStyle/>
          <a:p>
            <a:pPr algn="l"/>
            <a:r>
              <a:rPr sz="1200" b="0" i="0">
                <a:solidFill>
                  <a:srgbClr val="1E2329"/>
                </a:solidFill>
                <a:latin typeface="Calibri"/>
              </a:rPr>
              <a:t>NormativaId</a:t>
            </a:r>
          </a:p>
        </p:txBody>
      </p:sp>
      <p:sp>
        <p:nvSpPr>
          <p:cNvPr id="44" name="TextBox 43"/>
          <p:cNvSpPr txBox="1"/>
          <p:nvPr/>
        </p:nvSpPr>
        <p:spPr>
          <a:xfrm>
            <a:off x="10250424" y="4133087"/>
            <a:ext cx="1252728" cy="256032"/>
          </a:xfrm>
          <a:prstGeom prst="rect">
            <a:avLst/>
          </a:prstGeom>
          <a:noFill/>
        </p:spPr>
        <p:txBody>
          <a:bodyPr wrap="square" anchor="ctr" lIns="0" rIns="0" tIns="0" bIns="0">
            <a:spAutoFit/>
          </a:bodyPr>
          <a:lstStyle/>
          <a:p>
            <a:pPr algn="r"/>
            <a:r>
              <a:rPr sz="1100" b="0" i="0">
                <a:solidFill>
                  <a:srgbClr val="5B6670"/>
                </a:solidFill>
                <a:latin typeface="Consolas"/>
              </a:rPr>
              <a:t>int identity</a:t>
            </a:r>
          </a:p>
        </p:txBody>
      </p:sp>
      <p:sp>
        <p:nvSpPr>
          <p:cNvPr id="45" name="TextBox 44"/>
          <p:cNvSpPr txBox="1"/>
          <p:nvPr/>
        </p:nvSpPr>
        <p:spPr>
          <a:xfrm>
            <a:off x="8092440" y="4389120"/>
            <a:ext cx="411480" cy="256032"/>
          </a:xfrm>
          <a:prstGeom prst="rect">
            <a:avLst/>
          </a:prstGeom>
          <a:noFill/>
        </p:spPr>
        <p:txBody>
          <a:bodyPr wrap="square" anchor="ctr" lIns="0" rIns="0" tIns="0" bIns="0">
            <a:spAutoFit/>
          </a:bodyPr>
          <a:lstStyle/>
          <a:p>
            <a:pPr algn="l"/>
            <a:r>
              <a:rPr sz="1000" b="1" i="0">
                <a:solidFill>
                  <a:srgbClr val="E89A22"/>
                </a:solidFill>
                <a:latin typeface="Calibri"/>
              </a:rPr>
              <a:t>FK</a:t>
            </a:r>
          </a:p>
        </p:txBody>
      </p:sp>
      <p:sp>
        <p:nvSpPr>
          <p:cNvPr id="46" name="TextBox 45"/>
          <p:cNvSpPr txBox="1"/>
          <p:nvPr/>
        </p:nvSpPr>
        <p:spPr>
          <a:xfrm>
            <a:off x="8485632" y="4389120"/>
            <a:ext cx="1901952" cy="256032"/>
          </a:xfrm>
          <a:prstGeom prst="rect">
            <a:avLst/>
          </a:prstGeom>
          <a:noFill/>
        </p:spPr>
        <p:txBody>
          <a:bodyPr wrap="square" anchor="ctr" lIns="0" rIns="0" tIns="0" bIns="0">
            <a:spAutoFit/>
          </a:bodyPr>
          <a:lstStyle/>
          <a:p>
            <a:pPr algn="l"/>
            <a:r>
              <a:rPr sz="1200" b="1" i="0">
                <a:solidFill>
                  <a:srgbClr val="0E9F8E"/>
                </a:solidFill>
                <a:latin typeface="Calibri"/>
              </a:rPr>
              <a:t>DepartamentoId</a:t>
            </a:r>
          </a:p>
        </p:txBody>
      </p:sp>
      <p:sp>
        <p:nvSpPr>
          <p:cNvPr id="47" name="TextBox 46"/>
          <p:cNvSpPr txBox="1"/>
          <p:nvPr/>
        </p:nvSpPr>
        <p:spPr>
          <a:xfrm>
            <a:off x="10250424" y="4389120"/>
            <a:ext cx="1252728" cy="256032"/>
          </a:xfrm>
          <a:prstGeom prst="rect">
            <a:avLst/>
          </a:prstGeom>
          <a:noFill/>
        </p:spPr>
        <p:txBody>
          <a:bodyPr wrap="square" anchor="ctr" lIns="0" rIns="0" tIns="0" bIns="0">
            <a:spAutoFit/>
          </a:bodyPr>
          <a:lstStyle/>
          <a:p>
            <a:pPr algn="r"/>
            <a:r>
              <a:rPr sz="1100" b="0" i="0">
                <a:solidFill>
                  <a:srgbClr val="5B6670"/>
                </a:solidFill>
                <a:latin typeface="Consolas"/>
              </a:rPr>
              <a:t>int</a:t>
            </a:r>
          </a:p>
        </p:txBody>
      </p:sp>
      <p:sp>
        <p:nvSpPr>
          <p:cNvPr id="48" name="TextBox 47"/>
          <p:cNvSpPr txBox="1"/>
          <p:nvPr/>
        </p:nvSpPr>
        <p:spPr>
          <a:xfrm>
            <a:off x="8092440" y="4645152"/>
            <a:ext cx="411480" cy="256032"/>
          </a:xfrm>
          <a:prstGeom prst="rect">
            <a:avLst/>
          </a:prstGeom>
          <a:noFill/>
        </p:spPr>
        <p:txBody>
          <a:bodyPr wrap="square" anchor="ctr" lIns="0" rIns="0" tIns="0" bIns="0">
            <a:spAutoFit/>
          </a:bodyPr>
          <a:lstStyle/>
          <a:p>
            <a:pPr algn="l"/>
            <a:r>
              <a:rPr sz="1000" b="1" i="0">
                <a:solidFill>
                  <a:srgbClr val="5B6670"/>
                </a:solidFill>
                <a:latin typeface="Calibri"/>
              </a:rPr>
              <a:t>UK</a:t>
            </a:r>
          </a:p>
        </p:txBody>
      </p:sp>
      <p:sp>
        <p:nvSpPr>
          <p:cNvPr id="49" name="TextBox 48"/>
          <p:cNvSpPr txBox="1"/>
          <p:nvPr/>
        </p:nvSpPr>
        <p:spPr>
          <a:xfrm>
            <a:off x="8485632" y="4645152"/>
            <a:ext cx="1901952" cy="256032"/>
          </a:xfrm>
          <a:prstGeom prst="rect">
            <a:avLst/>
          </a:prstGeom>
          <a:noFill/>
        </p:spPr>
        <p:txBody>
          <a:bodyPr wrap="square" anchor="ctr" lIns="0" rIns="0" tIns="0" bIns="0">
            <a:spAutoFit/>
          </a:bodyPr>
          <a:lstStyle/>
          <a:p>
            <a:pPr algn="l"/>
            <a:r>
              <a:rPr sz="1200" b="1" i="0">
                <a:solidFill>
                  <a:srgbClr val="0E9F8E"/>
                </a:solidFill>
                <a:latin typeface="Calibri"/>
              </a:rPr>
              <a:t>Codigo</a:t>
            </a:r>
          </a:p>
        </p:txBody>
      </p:sp>
      <p:sp>
        <p:nvSpPr>
          <p:cNvPr id="50" name="TextBox 49"/>
          <p:cNvSpPr txBox="1"/>
          <p:nvPr/>
        </p:nvSpPr>
        <p:spPr>
          <a:xfrm>
            <a:off x="10250424" y="4645152"/>
            <a:ext cx="1252728" cy="256032"/>
          </a:xfrm>
          <a:prstGeom prst="rect">
            <a:avLst/>
          </a:prstGeom>
          <a:noFill/>
        </p:spPr>
        <p:txBody>
          <a:bodyPr wrap="square" anchor="ctr" lIns="0" rIns="0" tIns="0" bIns="0">
            <a:spAutoFit/>
          </a:bodyPr>
          <a:lstStyle/>
          <a:p>
            <a:pPr algn="r"/>
            <a:r>
              <a:rPr sz="1100" b="0" i="0">
                <a:solidFill>
                  <a:srgbClr val="5B6670"/>
                </a:solidFill>
                <a:latin typeface="Consolas"/>
              </a:rPr>
              <a:t>varchar(20)</a:t>
            </a:r>
          </a:p>
        </p:txBody>
      </p:sp>
      <p:sp>
        <p:nvSpPr>
          <p:cNvPr id="51" name="TextBox 50"/>
          <p:cNvSpPr txBox="1"/>
          <p:nvPr/>
        </p:nvSpPr>
        <p:spPr>
          <a:xfrm>
            <a:off x="8485632" y="4901183"/>
            <a:ext cx="1901952" cy="256032"/>
          </a:xfrm>
          <a:prstGeom prst="rect">
            <a:avLst/>
          </a:prstGeom>
          <a:noFill/>
        </p:spPr>
        <p:txBody>
          <a:bodyPr wrap="square" anchor="ctr" lIns="0" rIns="0" tIns="0" bIns="0">
            <a:spAutoFit/>
          </a:bodyPr>
          <a:lstStyle/>
          <a:p>
            <a:pPr algn="l"/>
            <a:r>
              <a:rPr sz="1200" b="0" i="0">
                <a:solidFill>
                  <a:srgbClr val="1E2329"/>
                </a:solidFill>
                <a:latin typeface="Calibri"/>
              </a:rPr>
              <a:t>Titulo</a:t>
            </a:r>
          </a:p>
        </p:txBody>
      </p:sp>
      <p:sp>
        <p:nvSpPr>
          <p:cNvPr id="52" name="TextBox 51"/>
          <p:cNvSpPr txBox="1"/>
          <p:nvPr/>
        </p:nvSpPr>
        <p:spPr>
          <a:xfrm>
            <a:off x="10250424" y="4901183"/>
            <a:ext cx="1252728" cy="256032"/>
          </a:xfrm>
          <a:prstGeom prst="rect">
            <a:avLst/>
          </a:prstGeom>
          <a:noFill/>
        </p:spPr>
        <p:txBody>
          <a:bodyPr wrap="square" anchor="ctr" lIns="0" rIns="0" tIns="0" bIns="0">
            <a:spAutoFit/>
          </a:bodyPr>
          <a:lstStyle/>
          <a:p>
            <a:pPr algn="r"/>
            <a:r>
              <a:rPr sz="1100" b="0" i="0">
                <a:solidFill>
                  <a:srgbClr val="5B6670"/>
                </a:solidFill>
                <a:latin typeface="Consolas"/>
              </a:rPr>
              <a:t>nvarchar(200)</a:t>
            </a:r>
          </a:p>
        </p:txBody>
      </p:sp>
      <p:sp>
        <p:nvSpPr>
          <p:cNvPr id="53" name="TextBox 52"/>
          <p:cNvSpPr txBox="1"/>
          <p:nvPr/>
        </p:nvSpPr>
        <p:spPr>
          <a:xfrm>
            <a:off x="8485632" y="5157216"/>
            <a:ext cx="1901952" cy="256032"/>
          </a:xfrm>
          <a:prstGeom prst="rect">
            <a:avLst/>
          </a:prstGeom>
          <a:noFill/>
        </p:spPr>
        <p:txBody>
          <a:bodyPr wrap="square" anchor="ctr" lIns="0" rIns="0" tIns="0" bIns="0">
            <a:spAutoFit/>
          </a:bodyPr>
          <a:lstStyle/>
          <a:p>
            <a:pPr algn="l"/>
            <a:r>
              <a:rPr sz="1200" b="0" i="0">
                <a:solidFill>
                  <a:srgbClr val="1E2329"/>
                </a:solidFill>
                <a:latin typeface="Calibri"/>
              </a:rPr>
              <a:t>Contenido</a:t>
            </a:r>
          </a:p>
        </p:txBody>
      </p:sp>
      <p:sp>
        <p:nvSpPr>
          <p:cNvPr id="54" name="TextBox 53"/>
          <p:cNvSpPr txBox="1"/>
          <p:nvPr/>
        </p:nvSpPr>
        <p:spPr>
          <a:xfrm>
            <a:off x="10250424" y="5157216"/>
            <a:ext cx="1252728" cy="256032"/>
          </a:xfrm>
          <a:prstGeom prst="rect">
            <a:avLst/>
          </a:prstGeom>
          <a:noFill/>
        </p:spPr>
        <p:txBody>
          <a:bodyPr wrap="square" anchor="ctr" lIns="0" rIns="0" tIns="0" bIns="0">
            <a:spAutoFit/>
          </a:bodyPr>
          <a:lstStyle/>
          <a:p>
            <a:pPr algn="r"/>
            <a:r>
              <a:rPr sz="1100" b="0" i="0">
                <a:solidFill>
                  <a:srgbClr val="5B6670"/>
                </a:solidFill>
                <a:latin typeface="Consolas"/>
              </a:rPr>
              <a:t>nvarchar(2000)</a:t>
            </a:r>
          </a:p>
        </p:txBody>
      </p:sp>
      <p:sp>
        <p:nvSpPr>
          <p:cNvPr id="55" name="TextBox 54"/>
          <p:cNvSpPr txBox="1"/>
          <p:nvPr/>
        </p:nvSpPr>
        <p:spPr>
          <a:xfrm>
            <a:off x="8485632" y="5413248"/>
            <a:ext cx="1901952" cy="256032"/>
          </a:xfrm>
          <a:prstGeom prst="rect">
            <a:avLst/>
          </a:prstGeom>
          <a:noFill/>
        </p:spPr>
        <p:txBody>
          <a:bodyPr wrap="square" anchor="ctr" lIns="0" rIns="0" tIns="0" bIns="0">
            <a:spAutoFit/>
          </a:bodyPr>
          <a:lstStyle/>
          <a:p>
            <a:pPr algn="l"/>
            <a:r>
              <a:rPr sz="1200" b="0" i="0">
                <a:solidFill>
                  <a:srgbClr val="1E2329"/>
                </a:solidFill>
                <a:latin typeface="Calibri"/>
              </a:rPr>
              <a:t>FechaVigencia</a:t>
            </a:r>
          </a:p>
        </p:txBody>
      </p:sp>
      <p:sp>
        <p:nvSpPr>
          <p:cNvPr id="56" name="TextBox 55"/>
          <p:cNvSpPr txBox="1"/>
          <p:nvPr/>
        </p:nvSpPr>
        <p:spPr>
          <a:xfrm>
            <a:off x="10250424" y="5413248"/>
            <a:ext cx="1252728" cy="256032"/>
          </a:xfrm>
          <a:prstGeom prst="rect">
            <a:avLst/>
          </a:prstGeom>
          <a:noFill/>
        </p:spPr>
        <p:txBody>
          <a:bodyPr wrap="square" anchor="ctr" lIns="0" rIns="0" tIns="0" bIns="0">
            <a:spAutoFit/>
          </a:bodyPr>
          <a:lstStyle/>
          <a:p>
            <a:pPr algn="r"/>
            <a:r>
              <a:rPr sz="1100" b="0" i="0">
                <a:solidFill>
                  <a:srgbClr val="5B6670"/>
                </a:solidFill>
                <a:latin typeface="Consolas"/>
              </a:rPr>
              <a:t>date</a:t>
            </a:r>
          </a:p>
        </p:txBody>
      </p:sp>
      <p:sp>
        <p:nvSpPr>
          <p:cNvPr id="57" name="TextBox 56"/>
          <p:cNvSpPr txBox="1"/>
          <p:nvPr/>
        </p:nvSpPr>
        <p:spPr>
          <a:xfrm>
            <a:off x="8485632" y="5669279"/>
            <a:ext cx="1901952" cy="256032"/>
          </a:xfrm>
          <a:prstGeom prst="rect">
            <a:avLst/>
          </a:prstGeom>
          <a:noFill/>
        </p:spPr>
        <p:txBody>
          <a:bodyPr wrap="square" anchor="ctr" lIns="0" rIns="0" tIns="0" bIns="0">
            <a:spAutoFit/>
          </a:bodyPr>
          <a:lstStyle/>
          <a:p>
            <a:pPr algn="l"/>
            <a:r>
              <a:rPr sz="1200" b="1" i="0">
                <a:solidFill>
                  <a:srgbClr val="0E9F8E"/>
                </a:solidFill>
                <a:latin typeface="Calibri"/>
              </a:rPr>
              <a:t>Embedding</a:t>
            </a:r>
          </a:p>
        </p:txBody>
      </p:sp>
      <p:sp>
        <p:nvSpPr>
          <p:cNvPr id="58" name="TextBox 57"/>
          <p:cNvSpPr txBox="1"/>
          <p:nvPr/>
        </p:nvSpPr>
        <p:spPr>
          <a:xfrm>
            <a:off x="10250424" y="5669279"/>
            <a:ext cx="1252728" cy="256032"/>
          </a:xfrm>
          <a:prstGeom prst="rect">
            <a:avLst/>
          </a:prstGeom>
          <a:noFill/>
        </p:spPr>
        <p:txBody>
          <a:bodyPr wrap="square" anchor="ctr" lIns="0" rIns="0" tIns="0" bIns="0">
            <a:spAutoFit/>
          </a:bodyPr>
          <a:lstStyle/>
          <a:p>
            <a:pPr algn="r"/>
            <a:r>
              <a:rPr sz="1100" b="0" i="0">
                <a:solidFill>
                  <a:srgbClr val="5B6670"/>
                </a:solidFill>
                <a:latin typeface="Consolas"/>
              </a:rPr>
              <a:t>vector(384) null</a:t>
            </a:r>
          </a:p>
        </p:txBody>
      </p:sp>
      <p:cxnSp>
        <p:nvCxnSpPr>
          <p:cNvPr id="59" name="Connector 58"/>
          <p:cNvCxnSpPr/>
          <p:nvPr/>
        </p:nvCxnSpPr>
        <p:spPr>
          <a:xfrm flipH="1">
            <a:off x="2377440" y="2468880"/>
            <a:ext cx="1892808" cy="0"/>
          </a:xfrm>
          <a:prstGeom prst="line">
            <a:avLst/>
          </a:prstGeom>
          <a:ln w="25400">
            <a:solidFill>
              <a:srgbClr val="0E9F8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377440" y="2468880"/>
            <a:ext cx="0" cy="1188720"/>
          </a:xfrm>
          <a:prstGeom prst="line">
            <a:avLst/>
          </a:prstGeom>
          <a:ln w="25400">
            <a:solidFill>
              <a:srgbClr val="0E9F8E"/>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950208" y="2121408"/>
            <a:ext cx="228600" cy="274320"/>
          </a:xfrm>
          <a:prstGeom prst="rect">
            <a:avLst/>
          </a:prstGeom>
          <a:noFill/>
        </p:spPr>
        <p:txBody>
          <a:bodyPr wrap="square" anchor="t" lIns="0" rIns="0" tIns="0" bIns="0">
            <a:spAutoFit/>
          </a:bodyPr>
          <a:lstStyle/>
          <a:p>
            <a:pPr algn="ctr"/>
            <a:r>
              <a:rPr sz="1400" b="1" i="0">
                <a:solidFill>
                  <a:srgbClr val="0E9F8E"/>
                </a:solidFill>
                <a:latin typeface="Calibri"/>
              </a:rPr>
              <a:t>1</a:t>
            </a:r>
          </a:p>
        </p:txBody>
      </p:sp>
      <p:sp>
        <p:nvSpPr>
          <p:cNvPr id="62" name="TextBox 61"/>
          <p:cNvSpPr txBox="1"/>
          <p:nvPr/>
        </p:nvSpPr>
        <p:spPr>
          <a:xfrm>
            <a:off x="2468880" y="3310128"/>
            <a:ext cx="274320" cy="274320"/>
          </a:xfrm>
          <a:prstGeom prst="rect">
            <a:avLst/>
          </a:prstGeom>
          <a:noFill/>
        </p:spPr>
        <p:txBody>
          <a:bodyPr wrap="square" anchor="t" lIns="0" rIns="0" tIns="0" bIns="0">
            <a:spAutoFit/>
          </a:bodyPr>
          <a:lstStyle/>
          <a:p>
            <a:pPr algn="l"/>
            <a:r>
              <a:rPr sz="1400" b="1" i="0">
                <a:solidFill>
                  <a:srgbClr val="0E9F8E"/>
                </a:solidFill>
                <a:latin typeface="Calibri"/>
              </a:rPr>
              <a:t>N</a:t>
            </a:r>
          </a:p>
        </p:txBody>
      </p:sp>
      <p:sp>
        <p:nvSpPr>
          <p:cNvPr id="63" name="TextBox 62"/>
          <p:cNvSpPr txBox="1"/>
          <p:nvPr/>
        </p:nvSpPr>
        <p:spPr>
          <a:xfrm>
            <a:off x="2775203" y="2514600"/>
            <a:ext cx="1097280" cy="274320"/>
          </a:xfrm>
          <a:prstGeom prst="rect">
            <a:avLst/>
          </a:prstGeom>
          <a:noFill/>
        </p:spPr>
        <p:txBody>
          <a:bodyPr wrap="square" anchor="t" lIns="0" rIns="0" tIns="0" bIns="0">
            <a:spAutoFit/>
          </a:bodyPr>
          <a:lstStyle/>
          <a:p>
            <a:pPr algn="ctr"/>
            <a:r>
              <a:rPr sz="1200" b="0" i="1">
                <a:solidFill>
                  <a:srgbClr val="5B6670"/>
                </a:solidFill>
                <a:latin typeface="Calibri"/>
              </a:rPr>
              <a:t>tiene</a:t>
            </a:r>
          </a:p>
        </p:txBody>
      </p:sp>
      <p:cxnSp>
        <p:nvCxnSpPr>
          <p:cNvPr id="64" name="Connector 63"/>
          <p:cNvCxnSpPr/>
          <p:nvPr/>
        </p:nvCxnSpPr>
        <p:spPr>
          <a:xfrm>
            <a:off x="7927848" y="2468880"/>
            <a:ext cx="1883664" cy="0"/>
          </a:xfrm>
          <a:prstGeom prst="line">
            <a:avLst/>
          </a:prstGeom>
          <a:ln w="25400">
            <a:solidFill>
              <a:srgbClr val="0E9F8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811512" y="2468880"/>
            <a:ext cx="0" cy="1188720"/>
          </a:xfrm>
          <a:prstGeom prst="line">
            <a:avLst/>
          </a:prstGeom>
          <a:ln w="25400">
            <a:solidFill>
              <a:srgbClr val="0E9F8E"/>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019288" y="2121408"/>
            <a:ext cx="228600" cy="274320"/>
          </a:xfrm>
          <a:prstGeom prst="rect">
            <a:avLst/>
          </a:prstGeom>
          <a:noFill/>
        </p:spPr>
        <p:txBody>
          <a:bodyPr wrap="square" anchor="t" lIns="0" rIns="0" tIns="0" bIns="0">
            <a:spAutoFit/>
          </a:bodyPr>
          <a:lstStyle/>
          <a:p>
            <a:pPr algn="ctr"/>
            <a:r>
              <a:rPr sz="1400" b="1" i="0">
                <a:solidFill>
                  <a:srgbClr val="0E9F8E"/>
                </a:solidFill>
                <a:latin typeface="Calibri"/>
              </a:rPr>
              <a:t>1</a:t>
            </a:r>
          </a:p>
        </p:txBody>
      </p:sp>
      <p:sp>
        <p:nvSpPr>
          <p:cNvPr id="67" name="TextBox 66"/>
          <p:cNvSpPr txBox="1"/>
          <p:nvPr/>
        </p:nvSpPr>
        <p:spPr>
          <a:xfrm>
            <a:off x="9902952" y="3310128"/>
            <a:ext cx="274320" cy="274320"/>
          </a:xfrm>
          <a:prstGeom prst="rect">
            <a:avLst/>
          </a:prstGeom>
          <a:noFill/>
        </p:spPr>
        <p:txBody>
          <a:bodyPr wrap="square" anchor="t" lIns="0" rIns="0" tIns="0" bIns="0">
            <a:spAutoFit/>
          </a:bodyPr>
          <a:lstStyle/>
          <a:p>
            <a:pPr algn="l"/>
            <a:r>
              <a:rPr sz="1400" b="1" i="0">
                <a:solidFill>
                  <a:srgbClr val="0E9F8E"/>
                </a:solidFill>
                <a:latin typeface="Calibri"/>
              </a:rPr>
              <a:t>N</a:t>
            </a:r>
          </a:p>
        </p:txBody>
      </p:sp>
      <p:sp>
        <p:nvSpPr>
          <p:cNvPr id="68" name="TextBox 67"/>
          <p:cNvSpPr txBox="1"/>
          <p:nvPr/>
        </p:nvSpPr>
        <p:spPr>
          <a:xfrm>
            <a:off x="8321040" y="2514600"/>
            <a:ext cx="1097280" cy="274320"/>
          </a:xfrm>
          <a:prstGeom prst="rect">
            <a:avLst/>
          </a:prstGeom>
          <a:noFill/>
        </p:spPr>
        <p:txBody>
          <a:bodyPr wrap="square" anchor="t" lIns="0" rIns="0" tIns="0" bIns="0">
            <a:spAutoFit/>
          </a:bodyPr>
          <a:lstStyle/>
          <a:p>
            <a:pPr algn="ctr"/>
            <a:r>
              <a:rPr sz="1200" b="0" i="1">
                <a:solidFill>
                  <a:srgbClr val="5B6670"/>
                </a:solidFill>
                <a:latin typeface="Calibri"/>
              </a:rPr>
              <a:t>publica</a:t>
            </a:r>
          </a:p>
        </p:txBody>
      </p:sp>
      <p:sp>
        <p:nvSpPr>
          <p:cNvPr id="69" name="TextBox 68"/>
          <p:cNvSpPr txBox="1"/>
          <p:nvPr/>
        </p:nvSpPr>
        <p:spPr>
          <a:xfrm>
            <a:off x="4270248" y="3429000"/>
            <a:ext cx="3657600" cy="274320"/>
          </a:xfrm>
          <a:prstGeom prst="rect">
            <a:avLst/>
          </a:prstGeom>
          <a:noFill/>
        </p:spPr>
        <p:txBody>
          <a:bodyPr wrap="square" anchor="t" lIns="0" rIns="0" tIns="0" bIns="0">
            <a:spAutoFit/>
          </a:bodyPr>
          <a:lstStyle/>
          <a:p>
            <a:pPr algn="ctr"/>
            <a:r>
              <a:rPr sz="1100" b="1" i="0">
                <a:solidFill>
                  <a:srgbClr val="0E9F8E"/>
                </a:solidFill>
                <a:latin typeface="Calibri"/>
              </a:rPr>
              <a:t>PK</a:t>
            </a:r>
            <a:r>
              <a:rPr sz="1100" b="0" i="0">
                <a:solidFill>
                  <a:srgbClr val="5B6670"/>
                </a:solidFill>
                <a:latin typeface="Calibri"/>
              </a:rPr>
              <a:t> clave primaria   </a:t>
            </a:r>
            <a:r>
              <a:rPr sz="1100" b="1" i="0">
                <a:solidFill>
                  <a:srgbClr val="E89A22"/>
                </a:solidFill>
                <a:latin typeface="Calibri"/>
              </a:rPr>
              <a:t>FK</a:t>
            </a:r>
            <a:r>
              <a:rPr sz="1100" b="0" i="0">
                <a:solidFill>
                  <a:srgbClr val="5B6670"/>
                </a:solidFill>
                <a:latin typeface="Calibri"/>
              </a:rPr>
              <a:t> clave ajena   </a:t>
            </a:r>
            <a:r>
              <a:rPr sz="1100" b="1" i="0">
                <a:solidFill>
                  <a:srgbClr val="5B6670"/>
                </a:solidFill>
                <a:latin typeface="Calibri"/>
              </a:rPr>
              <a:t>UK</a:t>
            </a:r>
            <a:r>
              <a:rPr sz="1100" b="0" i="0">
                <a:solidFill>
                  <a:srgbClr val="5B6670"/>
                </a:solidFill>
                <a:latin typeface="Calibri"/>
              </a:rPr>
              <a:t> única</a:t>
            </a:r>
          </a:p>
        </p:txBody>
      </p:sp>
      <p:sp>
        <p:nvSpPr>
          <p:cNvPr id="70" name="TextBox 69"/>
          <p:cNvSpPr txBox="1"/>
          <p:nvPr/>
        </p:nvSpPr>
        <p:spPr>
          <a:xfrm>
            <a:off x="4361688" y="3886200"/>
            <a:ext cx="3337560" cy="2377440"/>
          </a:xfrm>
          <a:prstGeom prst="rect">
            <a:avLst/>
          </a:prstGeom>
          <a:noFill/>
        </p:spPr>
        <p:txBody>
          <a:bodyPr wrap="square" anchor="t" lIns="0" rIns="0" tIns="0" bIns="0">
            <a:spAutoFit/>
          </a:bodyPr>
          <a:lstStyle/>
          <a:p>
            <a:pPr algn="l" marL="228600" indent="-228600">
              <a:spcAft>
                <a:spcPts val="600"/>
              </a:spcAft>
              <a:buClr>
                <a:srgbClr val="0E9F8E"/>
              </a:buClr>
              <a:buFont typeface="Arial"/>
              <a:buChar char="•"/>
            </a:pPr>
            <a:r>
              <a:rPr sz="1300" b="1" i="0">
                <a:solidFill>
                  <a:srgbClr val="1E2329"/>
                </a:solidFill>
                <a:latin typeface="Calibri"/>
              </a:rPr>
              <a:t>RolBD: </a:t>
            </a:r>
            <a:r>
              <a:rPr sz="1300" b="0" i="0">
                <a:solidFill>
                  <a:srgbClr val="1E2329"/>
                </a:solidFill>
                <a:latin typeface="Calibri"/>
              </a:rPr>
              <a:t>el rol que el RLS evalúa con IS_MEMBER()</a:t>
            </a:r>
          </a:p>
          <a:p>
            <a:pPr algn="l" marL="228600" indent="-228600">
              <a:spcAft>
                <a:spcPts val="600"/>
              </a:spcAft>
              <a:buClr>
                <a:srgbClr val="0E9F8E"/>
              </a:buClr>
              <a:buFont typeface="Arial"/>
              <a:buChar char="•"/>
            </a:pPr>
            <a:r>
              <a:rPr sz="1300" b="1" i="0">
                <a:solidFill>
                  <a:srgbClr val="1E2329"/>
                </a:solidFill>
                <a:latin typeface="Calibri"/>
              </a:rPr>
              <a:t>DepartamentoId: </a:t>
            </a:r>
            <a:r>
              <a:rPr sz="1300" b="0" i="0">
                <a:solidFill>
                  <a:srgbClr val="1E2329"/>
                </a:solidFill>
                <a:latin typeface="Calibri"/>
              </a:rPr>
              <a:t>recibe el predicado de seguridad</a:t>
            </a:r>
          </a:p>
          <a:p>
            <a:pPr algn="l" marL="228600" indent="-228600">
              <a:spcAft>
                <a:spcPts val="600"/>
              </a:spcAft>
              <a:buClr>
                <a:srgbClr val="0E9F8E"/>
              </a:buClr>
              <a:buFont typeface="Arial"/>
              <a:buChar char="•"/>
            </a:pPr>
            <a:r>
              <a:rPr sz="1300" b="1" i="0">
                <a:solidFill>
                  <a:srgbClr val="1E2329"/>
                </a:solidFill>
                <a:latin typeface="Calibri"/>
              </a:rPr>
              <a:t>Codigo: </a:t>
            </a:r>
            <a:r>
              <a:rPr sz="1300" b="0" i="0">
                <a:solidFill>
                  <a:srgbClr val="1E2329"/>
                </a:solidFill>
                <a:latin typeface="Calibri"/>
              </a:rPr>
              <a:t>sufijo a/b = fragmento de la normativa</a:t>
            </a:r>
          </a:p>
          <a:p>
            <a:pPr algn="l" marL="228600" indent="-228600">
              <a:spcAft>
                <a:spcPts val="600"/>
              </a:spcAft>
              <a:buClr>
                <a:srgbClr val="0E9F8E"/>
              </a:buClr>
              <a:buFont typeface="Arial"/>
              <a:buChar char="•"/>
            </a:pPr>
            <a:r>
              <a:rPr sz="1300" b="1" i="0">
                <a:solidFill>
                  <a:srgbClr val="1E2329"/>
                </a:solidFill>
                <a:latin typeface="Calibri"/>
              </a:rPr>
              <a:t>Embedding: </a:t>
            </a:r>
            <a:r>
              <a:rPr sz="1300" b="0" i="0">
                <a:solidFill>
                  <a:srgbClr val="1E2329"/>
                </a:solidFill>
                <a:latin typeface="Calibri"/>
              </a:rPr>
              <a:t>VECTOR(384) sin índice; Titulo y Contenido con full-text</a:t>
            </a:r>
          </a:p>
        </p:txBody>
      </p:sp>
      <p:sp>
        <p:nvSpPr>
          <p:cNvPr id="71" name="TextBox 70"/>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Row-Level Security: el filtro vive en el motor</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database/07_rls.sql · TVF inline + SECURITY POLICY con FILTER PREDICATE</a:t>
            </a:r>
          </a:p>
        </p:txBody>
      </p:sp>
      <p:sp>
        <p:nvSpPr>
          <p:cNvPr id="4" name="Rounded Rectangle 3"/>
          <p:cNvSpPr/>
          <p:nvPr/>
        </p:nvSpPr>
        <p:spPr>
          <a:xfrm>
            <a:off x="548640" y="1645920"/>
            <a:ext cx="7086600" cy="2514600"/>
          </a:xfrm>
          <a:prstGeom prst="roundRect">
            <a:avLst>
              <a:gd name="adj" fmla="val 4000"/>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83080"/>
            <a:ext cx="6720840" cy="2286000"/>
          </a:xfrm>
          <a:prstGeom prst="rect">
            <a:avLst/>
          </a:prstGeom>
          <a:noFill/>
        </p:spPr>
        <p:txBody>
          <a:bodyPr wrap="square" anchor="t" lIns="0" rIns="0" tIns="0" bIns="0">
            <a:spAutoFit/>
          </a:bodyPr>
          <a:lstStyle/>
          <a:p>
            <a:pPr algn="l"/>
            <a:r>
              <a:rPr sz="1200" b="0" i="0">
                <a:solidFill>
                  <a:srgbClr val="E6EDF3"/>
                </a:solidFill>
                <a:latin typeface="Consolas"/>
              </a:rPr>
              <a:t>CREATE FUNCTION Seguridad.fn_PredicadoNormativas (@DepartamentoId INT)</a:t>
            </a:r>
          </a:p>
          <a:p>
            <a:pPr algn="l"/>
            <a:r>
              <a:rPr sz="1200" b="0" i="0">
                <a:solidFill>
                  <a:srgbClr val="E6EDF3"/>
                </a:solidFill>
                <a:latin typeface="Consolas"/>
              </a:rPr>
              <a:t>RETURNS TABLE WITH SCHEMABINDING AS</a:t>
            </a:r>
          </a:p>
          <a:p>
            <a:pPr algn="l"/>
            <a:r>
              <a:rPr sz="1200" b="0" i="0">
                <a:solidFill>
                  <a:srgbClr val="E6EDF3"/>
                </a:solidFill>
                <a:latin typeface="Consolas"/>
              </a:rPr>
              <a:t>RETURN SELECT 1 AS Autorizado</a:t>
            </a:r>
          </a:p>
          <a:p>
            <a:pPr algn="l"/>
            <a:r>
              <a:rPr sz="1200" b="0" i="0">
                <a:solidFill>
                  <a:srgbClr val="E6EDF3"/>
                </a:solidFill>
                <a:latin typeface="Consolas"/>
              </a:rPr>
              <a:t>  WHERE IS_MEMBER(N'Rol_Direccion') = 1</a:t>
            </a:r>
          </a:p>
          <a:p>
            <a:pPr algn="l"/>
            <a:r>
              <a:rPr sz="1200" b="0" i="0">
                <a:solidFill>
                  <a:srgbClr val="E6EDF3"/>
                </a:solidFill>
                <a:latin typeface="Consolas"/>
              </a:rPr>
              <a:t>     OR EXISTS (SELECT 1 FROM dbo.Departamentos AS d</a:t>
            </a:r>
          </a:p>
          <a:p>
            <a:pPr algn="l"/>
            <a:r>
              <a:rPr sz="1200" b="0" i="0">
                <a:solidFill>
                  <a:srgbClr val="E6EDF3"/>
                </a:solidFill>
                <a:latin typeface="Consolas"/>
              </a:rPr>
              <a:t>                WHERE d.DepartamentoId = @DepartamentoId</a:t>
            </a:r>
          </a:p>
          <a:p>
            <a:pPr algn="l"/>
            <a:r>
              <a:rPr sz="1200" b="0" i="0">
                <a:solidFill>
                  <a:srgbClr val="E6EDF3"/>
                </a:solidFill>
                <a:latin typeface="Consolas"/>
              </a:rPr>
              <a:t>                  AND IS_MEMBER(d.RolBD) = 1);</a:t>
            </a:r>
          </a:p>
          <a:p>
            <a:pPr algn="l"/>
            <a:r>
              <a:rPr sz="1200" b="0" i="0">
                <a:solidFill>
                  <a:srgbClr val="E6EDF3"/>
                </a:solidFill>
                <a:latin typeface="Consolas"/>
              </a:rPr>
              <a:t/>
            </a:r>
          </a:p>
          <a:p>
            <a:pPr algn="l"/>
            <a:r>
              <a:rPr sz="1200" b="0" i="0">
                <a:solidFill>
                  <a:srgbClr val="E6EDF3"/>
                </a:solidFill>
                <a:latin typeface="Consolas"/>
              </a:rPr>
              <a:t>CREATE SECURITY POLICY Seguridad.PoliticaNormativas</a:t>
            </a:r>
          </a:p>
          <a:p>
            <a:pPr algn="l"/>
            <a:r>
              <a:rPr sz="1200" b="0" i="0">
                <a:solidFill>
                  <a:srgbClr val="E6EDF3"/>
                </a:solidFill>
                <a:latin typeface="Consolas"/>
              </a:rPr>
              <a:t>  ADD FILTER PREDICATE Seguridad.fn_PredicadoNormativas(DepartamentoId)</a:t>
            </a:r>
          </a:p>
          <a:p>
            <a:pPr algn="l"/>
            <a:r>
              <a:rPr sz="1200" b="0" i="0">
                <a:solidFill>
                  <a:srgbClr val="E6EDF3"/>
                </a:solidFill>
                <a:latin typeface="Consolas"/>
              </a:rPr>
              <a:t>  ON dbo.Normativas WITH (STATE = ON);</a:t>
            </a:r>
          </a:p>
        </p:txBody>
      </p:sp>
      <p:sp>
        <p:nvSpPr>
          <p:cNvPr id="6" name="TextBox 5"/>
          <p:cNvSpPr txBox="1"/>
          <p:nvPr/>
        </p:nvSpPr>
        <p:spPr>
          <a:xfrm>
            <a:off x="548640" y="4434840"/>
            <a:ext cx="7086600" cy="320040"/>
          </a:xfrm>
          <a:prstGeom prst="rect">
            <a:avLst/>
          </a:prstGeom>
          <a:noFill/>
        </p:spPr>
        <p:txBody>
          <a:bodyPr wrap="square" anchor="t" lIns="0" rIns="0" tIns="0" bIns="0">
            <a:spAutoFit/>
          </a:bodyPr>
          <a:lstStyle/>
          <a:p>
            <a:pPr algn="l"/>
            <a:r>
              <a:rPr sz="1600" b="1" i="0">
                <a:solidFill>
                  <a:srgbClr val="5B6670"/>
                </a:solidFill>
                <a:latin typeface="Calibri"/>
              </a:rPr>
              <a:t>Quién ve qué</a:t>
            </a:r>
          </a:p>
        </p:txBody>
      </p:sp>
      <p:sp>
        <p:nvSpPr>
          <p:cNvPr id="7" name="Rounded Rectangle 6"/>
          <p:cNvSpPr/>
          <p:nvPr/>
        </p:nvSpPr>
        <p:spPr>
          <a:xfrm>
            <a:off x="548640" y="4846320"/>
            <a:ext cx="2240280" cy="114300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4919472"/>
            <a:ext cx="1874519" cy="548640"/>
          </a:xfrm>
          <a:prstGeom prst="rect">
            <a:avLst/>
          </a:prstGeom>
          <a:noFill/>
        </p:spPr>
        <p:txBody>
          <a:bodyPr wrap="square" anchor="ctr" lIns="0" rIns="0" tIns="0" bIns="0">
            <a:spAutoFit/>
          </a:bodyPr>
          <a:lstStyle/>
          <a:p>
            <a:pPr algn="l"/>
            <a:r>
              <a:rPr sz="1300" b="1" i="0">
                <a:solidFill>
                  <a:srgbClr val="0E9F8E"/>
                </a:solidFill>
                <a:latin typeface="Calibri"/>
              </a:rPr>
              <a:t>Rol_Empleado</a:t>
            </a:r>
          </a:p>
        </p:txBody>
      </p:sp>
      <p:sp>
        <p:nvSpPr>
          <p:cNvPr id="9" name="TextBox 8"/>
          <p:cNvSpPr txBox="1"/>
          <p:nvPr/>
        </p:nvSpPr>
        <p:spPr>
          <a:xfrm>
            <a:off x="731520" y="5440680"/>
            <a:ext cx="1874519" cy="457200"/>
          </a:xfrm>
          <a:prstGeom prst="rect">
            <a:avLst/>
          </a:prstGeom>
          <a:noFill/>
        </p:spPr>
        <p:txBody>
          <a:bodyPr wrap="square" anchor="t" lIns="0" rIns="0" tIns="0" bIns="0">
            <a:spAutoFit/>
          </a:bodyPr>
          <a:lstStyle/>
          <a:p>
            <a:pPr algn="l"/>
            <a:r>
              <a:rPr sz="1300" b="0" i="0">
                <a:solidFill>
                  <a:srgbClr val="1E2329"/>
                </a:solidFill>
                <a:latin typeface="Calibri"/>
              </a:rPr>
              <a:t>→ normativas generales</a:t>
            </a:r>
          </a:p>
        </p:txBody>
      </p:sp>
      <p:sp>
        <p:nvSpPr>
          <p:cNvPr id="10" name="Rounded Rectangle 9"/>
          <p:cNvSpPr/>
          <p:nvPr/>
        </p:nvSpPr>
        <p:spPr>
          <a:xfrm>
            <a:off x="2971800" y="4846320"/>
            <a:ext cx="2240280" cy="114300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154680" y="4919472"/>
            <a:ext cx="1874519" cy="548640"/>
          </a:xfrm>
          <a:prstGeom prst="rect">
            <a:avLst/>
          </a:prstGeom>
          <a:noFill/>
        </p:spPr>
        <p:txBody>
          <a:bodyPr wrap="square" anchor="ctr" lIns="0" rIns="0" tIns="0" bIns="0">
            <a:spAutoFit/>
          </a:bodyPr>
          <a:lstStyle/>
          <a:p>
            <a:pPr algn="l"/>
            <a:r>
              <a:rPr sz="1300" b="1" i="0">
                <a:solidFill>
                  <a:srgbClr val="0E9F8E"/>
                </a:solidFill>
                <a:latin typeface="Calibri"/>
              </a:rPr>
              <a:t>Rol_RRHH · Rol_Ventas · Rol_IT</a:t>
            </a:r>
          </a:p>
        </p:txBody>
      </p:sp>
      <p:sp>
        <p:nvSpPr>
          <p:cNvPr id="12" name="TextBox 11"/>
          <p:cNvSpPr txBox="1"/>
          <p:nvPr/>
        </p:nvSpPr>
        <p:spPr>
          <a:xfrm>
            <a:off x="3154680" y="5440680"/>
            <a:ext cx="1874519" cy="457200"/>
          </a:xfrm>
          <a:prstGeom prst="rect">
            <a:avLst/>
          </a:prstGeom>
          <a:noFill/>
        </p:spPr>
        <p:txBody>
          <a:bodyPr wrap="square" anchor="t" lIns="0" rIns="0" tIns="0" bIns="0">
            <a:spAutoFit/>
          </a:bodyPr>
          <a:lstStyle/>
          <a:p>
            <a:pPr algn="l"/>
            <a:r>
              <a:rPr sz="1300" b="0" i="0">
                <a:solidFill>
                  <a:srgbClr val="1E2329"/>
                </a:solidFill>
                <a:latin typeface="Calibri"/>
              </a:rPr>
              <a:t>→ las de su departamento</a:t>
            </a:r>
          </a:p>
        </p:txBody>
      </p:sp>
      <p:sp>
        <p:nvSpPr>
          <p:cNvPr id="13" name="Rounded Rectangle 12"/>
          <p:cNvSpPr/>
          <p:nvPr/>
        </p:nvSpPr>
        <p:spPr>
          <a:xfrm>
            <a:off x="5394959" y="4846320"/>
            <a:ext cx="2240280" cy="114300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577840" y="4919472"/>
            <a:ext cx="1874519" cy="548640"/>
          </a:xfrm>
          <a:prstGeom prst="rect">
            <a:avLst/>
          </a:prstGeom>
          <a:noFill/>
        </p:spPr>
        <p:txBody>
          <a:bodyPr wrap="square" anchor="ctr" lIns="0" rIns="0" tIns="0" bIns="0">
            <a:spAutoFit/>
          </a:bodyPr>
          <a:lstStyle/>
          <a:p>
            <a:pPr algn="l"/>
            <a:r>
              <a:rPr sz="1300" b="1" i="0">
                <a:solidFill>
                  <a:srgbClr val="E89A22"/>
                </a:solidFill>
                <a:latin typeface="Calibri"/>
              </a:rPr>
              <a:t>Rol_Direccion</a:t>
            </a:r>
          </a:p>
        </p:txBody>
      </p:sp>
      <p:sp>
        <p:nvSpPr>
          <p:cNvPr id="15" name="TextBox 14"/>
          <p:cNvSpPr txBox="1"/>
          <p:nvPr/>
        </p:nvSpPr>
        <p:spPr>
          <a:xfrm>
            <a:off x="5577840" y="5440680"/>
            <a:ext cx="1874519" cy="457200"/>
          </a:xfrm>
          <a:prstGeom prst="rect">
            <a:avLst/>
          </a:prstGeom>
          <a:noFill/>
        </p:spPr>
        <p:txBody>
          <a:bodyPr wrap="square" anchor="t" lIns="0" rIns="0" tIns="0" bIns="0">
            <a:spAutoFit/>
          </a:bodyPr>
          <a:lstStyle/>
          <a:p>
            <a:pPr algn="l"/>
            <a:r>
              <a:rPr sz="1300" b="0" i="0">
                <a:solidFill>
                  <a:srgbClr val="1E2329"/>
                </a:solidFill>
                <a:latin typeface="Calibri"/>
              </a:rPr>
              <a:t>→ todas</a:t>
            </a:r>
          </a:p>
        </p:txBody>
      </p:sp>
      <p:sp>
        <p:nvSpPr>
          <p:cNvPr id="16" name="TextBox 15"/>
          <p:cNvSpPr txBox="1"/>
          <p:nvPr/>
        </p:nvSpPr>
        <p:spPr>
          <a:xfrm>
            <a:off x="8001000" y="1691640"/>
            <a:ext cx="3639312" cy="4389120"/>
          </a:xfrm>
          <a:prstGeom prst="rect">
            <a:avLst/>
          </a:prstGeom>
          <a:noFill/>
        </p:spPr>
        <p:txBody>
          <a:bodyPr wrap="square" anchor="t" lIns="0" rIns="0" tIns="0" bIns="0">
            <a:spAutoFit/>
          </a:bodyPr>
          <a:lstStyle/>
          <a:p>
            <a:pPr algn="l" marL="228600" indent="-228600">
              <a:spcAft>
                <a:spcPts val="1000"/>
              </a:spcAft>
              <a:buClr>
                <a:srgbClr val="0E9F8E"/>
              </a:buClr>
              <a:buFont typeface="Arial"/>
              <a:buChar char="•"/>
            </a:pPr>
            <a:r>
              <a:rPr sz="1500" b="1" i="0">
                <a:solidFill>
                  <a:srgbClr val="1E2329"/>
                </a:solidFill>
                <a:latin typeface="Calibri"/>
              </a:rPr>
              <a:t>IS_MEMBER(): </a:t>
            </a:r>
            <a:r>
              <a:rPr sz="1500" b="0" i="0">
                <a:solidFill>
                  <a:srgbClr val="1E2329"/>
                </a:solidFill>
                <a:latin typeface="Calibri"/>
              </a:rPr>
              <a:t>evalúa la identidad real del usuario; el cliente no puede falsearla, a diferencia de SESSION_CONTEXT</a:t>
            </a:r>
          </a:p>
          <a:p>
            <a:pPr algn="l" marL="228600" indent="-228600">
              <a:spcAft>
                <a:spcPts val="1000"/>
              </a:spcAft>
              <a:buClr>
                <a:srgbClr val="0E9F8E"/>
              </a:buClr>
              <a:buFont typeface="Arial"/>
              <a:buChar char="•"/>
            </a:pPr>
            <a:r>
              <a:rPr sz="1500" b="1" i="0">
                <a:solidFill>
                  <a:srgbClr val="1E2329"/>
                </a:solidFill>
                <a:latin typeface="Calibri"/>
              </a:rPr>
              <a:t>RolBD en la tabla: </a:t>
            </a:r>
            <a:r>
              <a:rPr sz="1500" b="0" i="0">
                <a:solidFill>
                  <a:srgbClr val="1E2329"/>
                </a:solidFill>
                <a:latin typeface="Calibri"/>
              </a:rPr>
              <a:t>un departamento nuevo no obliga a cambiar la función</a:t>
            </a:r>
          </a:p>
          <a:p>
            <a:pPr algn="l" marL="228600" indent="-228600">
              <a:spcAft>
                <a:spcPts val="1000"/>
              </a:spcAft>
              <a:buClr>
                <a:srgbClr val="0E9F8E"/>
              </a:buClr>
              <a:buFont typeface="Arial"/>
              <a:buChar char="•"/>
            </a:pPr>
            <a:r>
              <a:rPr sz="1500" b="1" i="0">
                <a:solidFill>
                  <a:srgbClr val="1E2329"/>
                </a:solidFill>
                <a:latin typeface="Calibri"/>
              </a:rPr>
              <a:t>TVF inline + SCHEMABINDING: </a:t>
            </a:r>
            <a:r>
              <a:rPr sz="1500" b="0" i="0">
                <a:solidFill>
                  <a:srgbClr val="1E2329"/>
                </a:solidFill>
                <a:latin typeface="Calibri"/>
              </a:rPr>
              <a:t>el predicado se integra en el plan de cada consulta</a:t>
            </a:r>
          </a:p>
          <a:p>
            <a:pPr algn="l" marL="228600" indent="-228600">
              <a:spcAft>
                <a:spcPts val="1000"/>
              </a:spcAft>
              <a:buClr>
                <a:srgbClr val="0E9F8E"/>
              </a:buClr>
              <a:buFont typeface="Arial"/>
              <a:buChar char="•"/>
            </a:pPr>
            <a:r>
              <a:rPr sz="1500" b="1" i="0">
                <a:solidFill>
                  <a:srgbClr val="1E2329"/>
                </a:solidFill>
                <a:latin typeface="Calibri"/>
              </a:rPr>
              <a:t>Sin excepciones: </a:t>
            </a:r>
            <a:r>
              <a:rPr sz="1500" b="0" i="0">
                <a:solidFill>
                  <a:srgbClr val="1E2329"/>
                </a:solidFill>
                <a:latin typeface="Calibri"/>
              </a:rPr>
              <a:t>dbo no puede pertenecer a ningún rol y no ve ninguna fila</a:t>
            </a:r>
          </a:p>
        </p:txBody>
      </p:sp>
      <p:sp>
        <p:nvSpPr>
          <p:cNvPr id="17" name="TextBox 16"/>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Misma consulta, distinto resultado según el rol</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SELECT COUNT(*) FROM dbo.Normativas, sin WHERE, con cada usuario (09_pruebas_rls.sql)</a:t>
            </a:r>
          </a:p>
        </p:txBody>
      </p:sp>
      <p:graphicFrame>
        <p:nvGraphicFramePr>
          <p:cNvPr id="4" name="Chart 3"/>
          <p:cNvGraphicFramePr>
            <a:graphicFrameLocks noGrp="1"/>
          </p:cNvGraphicFramePr>
          <p:nvPr/>
        </p:nvGraphicFramePr>
        <p:xfrm>
          <a:off x="548640" y="1600200"/>
          <a:ext cx="6949440" cy="4526280"/>
        </p:xfrm>
        <a:graphic>
          <a:graphicData uri="http://schemas.openxmlformats.org/drawingml/2006/chart">
            <c:chart xmlns:c="http://schemas.openxmlformats.org/drawingml/2006/chart" r:id="rId2"/>
          </a:graphicData>
        </a:graphic>
      </p:graphicFrame>
      <p:sp>
        <p:nvSpPr>
          <p:cNvPr id="5" name="Rounded Rectangle 4"/>
          <p:cNvSpPr/>
          <p:nvPr/>
        </p:nvSpPr>
        <p:spPr>
          <a:xfrm>
            <a:off x="7863840" y="1691640"/>
            <a:ext cx="3776472" cy="12801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46720" y="1801368"/>
            <a:ext cx="914400" cy="1051560"/>
          </a:xfrm>
          <a:prstGeom prst="rect">
            <a:avLst/>
          </a:prstGeom>
          <a:noFill/>
        </p:spPr>
        <p:txBody>
          <a:bodyPr wrap="square" anchor="ctr" lIns="0" rIns="0" tIns="0" bIns="0">
            <a:spAutoFit/>
          </a:bodyPr>
          <a:lstStyle/>
          <a:p>
            <a:pPr algn="l"/>
            <a:r>
              <a:rPr sz="3400" b="1" i="0">
                <a:solidFill>
                  <a:srgbClr val="1E2329"/>
                </a:solidFill>
                <a:latin typeface="Calibri"/>
              </a:rPr>
              <a:t>0</a:t>
            </a:r>
          </a:p>
        </p:txBody>
      </p:sp>
      <p:sp>
        <p:nvSpPr>
          <p:cNvPr id="7" name="TextBox 6"/>
          <p:cNvSpPr txBox="1"/>
          <p:nvPr/>
        </p:nvSpPr>
        <p:spPr>
          <a:xfrm>
            <a:off x="8915400" y="1801368"/>
            <a:ext cx="2606040" cy="1051560"/>
          </a:xfrm>
          <a:prstGeom prst="rect">
            <a:avLst/>
          </a:prstGeom>
          <a:noFill/>
        </p:spPr>
        <p:txBody>
          <a:bodyPr wrap="square" anchor="ctr" lIns="0" rIns="0" tIns="0" bIns="0">
            <a:spAutoFit/>
          </a:bodyPr>
          <a:lstStyle/>
          <a:p>
            <a:pPr algn="l"/>
            <a:r>
              <a:rPr sz="1300" b="0" i="0">
                <a:solidFill>
                  <a:srgbClr val="1E2329"/>
                </a:solidFill>
                <a:latin typeface="Calibri"/>
              </a:rPr>
              <a:t>dbo: un sysadmin entra como dbo e IS_MEMBER() devuelve 0. No hay excepción para el administrador</a:t>
            </a:r>
          </a:p>
        </p:txBody>
      </p:sp>
      <p:sp>
        <p:nvSpPr>
          <p:cNvPr id="8" name="Rounded Rectangle 7"/>
          <p:cNvSpPr/>
          <p:nvPr/>
        </p:nvSpPr>
        <p:spPr>
          <a:xfrm>
            <a:off x="7863840" y="3154680"/>
            <a:ext cx="3776472" cy="12801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0" y="3264408"/>
            <a:ext cx="914400" cy="1051560"/>
          </a:xfrm>
          <a:prstGeom prst="rect">
            <a:avLst/>
          </a:prstGeom>
          <a:noFill/>
        </p:spPr>
        <p:txBody>
          <a:bodyPr wrap="square" anchor="ctr" lIns="0" rIns="0" tIns="0" bIns="0">
            <a:spAutoFit/>
          </a:bodyPr>
          <a:lstStyle/>
          <a:p>
            <a:pPr algn="l"/>
            <a:r>
              <a:rPr sz="3400" b="1" i="0">
                <a:solidFill>
                  <a:srgbClr val="E89A22"/>
                </a:solidFill>
                <a:latin typeface="Calibri"/>
              </a:rPr>
              <a:t>0</a:t>
            </a:r>
          </a:p>
        </p:txBody>
      </p:sp>
      <p:sp>
        <p:nvSpPr>
          <p:cNvPr id="10" name="TextBox 9"/>
          <p:cNvSpPr txBox="1"/>
          <p:nvPr/>
        </p:nvSpPr>
        <p:spPr>
          <a:xfrm>
            <a:off x="8915400" y="3264408"/>
            <a:ext cx="2606040" cy="1051560"/>
          </a:xfrm>
          <a:prstGeom prst="rect">
            <a:avLst/>
          </a:prstGeom>
          <a:noFill/>
        </p:spPr>
        <p:txBody>
          <a:bodyPr wrap="square" anchor="ctr" lIns="0" rIns="0" tIns="0" bIns="0">
            <a:spAutoFit/>
          </a:bodyPr>
          <a:lstStyle/>
          <a:p>
            <a:pPr algn="l"/>
            <a:r>
              <a:rPr sz="1300" b="0" i="0">
                <a:solidFill>
                  <a:srgbClr val="1E2329"/>
                </a:solidFill>
                <a:latin typeface="Calibri"/>
              </a:rPr>
              <a:t>invitado_externo: tiene SELECT, pero ningún rol. El permiso de objeto no basta</a:t>
            </a:r>
          </a:p>
        </p:txBody>
      </p:sp>
      <p:sp>
        <p:nvSpPr>
          <p:cNvPr id="11" name="Rounded Rectangle 10"/>
          <p:cNvSpPr/>
          <p:nvPr/>
        </p:nvSpPr>
        <p:spPr>
          <a:xfrm>
            <a:off x="7863840" y="4617720"/>
            <a:ext cx="3776472" cy="12801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0" y="4727448"/>
            <a:ext cx="914400" cy="1051560"/>
          </a:xfrm>
          <a:prstGeom prst="rect">
            <a:avLst/>
          </a:prstGeom>
          <a:noFill/>
        </p:spPr>
        <p:txBody>
          <a:bodyPr wrap="square" anchor="ctr" lIns="0" rIns="0" tIns="0" bIns="0">
            <a:spAutoFit/>
          </a:bodyPr>
          <a:lstStyle/>
          <a:p>
            <a:pPr algn="l"/>
            <a:r>
              <a:rPr sz="3400" b="1" i="0">
                <a:solidFill>
                  <a:srgbClr val="0E9F8E"/>
                </a:solidFill>
                <a:latin typeface="Calibri"/>
              </a:rPr>
              <a:t>72</a:t>
            </a:r>
          </a:p>
        </p:txBody>
      </p:sp>
      <p:sp>
        <p:nvSpPr>
          <p:cNvPr id="13" name="TextBox 12"/>
          <p:cNvSpPr txBox="1"/>
          <p:nvPr/>
        </p:nvSpPr>
        <p:spPr>
          <a:xfrm>
            <a:off x="8915400" y="4727448"/>
            <a:ext cx="2606040" cy="1051560"/>
          </a:xfrm>
          <a:prstGeom prst="rect">
            <a:avLst/>
          </a:prstGeom>
          <a:noFill/>
        </p:spPr>
        <p:txBody>
          <a:bodyPr wrap="square" anchor="ctr" lIns="0" rIns="0" tIns="0" bIns="0">
            <a:spAutoFit/>
          </a:bodyPr>
          <a:lstStyle/>
          <a:p>
            <a:pPr algn="l"/>
            <a:r>
              <a:rPr sz="1300" b="0" i="0">
                <a:solidFill>
                  <a:srgbClr val="1E2329"/>
                </a:solidFill>
                <a:latin typeface="Calibri"/>
              </a:rPr>
              <a:t>marta_direccion: Rol_Direccion ve todos los departamentos</a:t>
            </a:r>
          </a:p>
        </p:txBody>
      </p:sp>
      <p:sp>
        <p:nvSpPr>
          <p:cNvPr id="14" name="TextBox 13"/>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Decisiones de diseño</a:t>
            </a:r>
          </a:p>
        </p:txBody>
      </p:sp>
      <p:sp>
        <p:nvSpPr>
          <p:cNvPr id="3" name="Rounded Rectangle 2"/>
          <p:cNvSpPr/>
          <p:nvPr/>
        </p:nvSpPr>
        <p:spPr>
          <a:xfrm>
            <a:off x="548640" y="1417320"/>
            <a:ext cx="3520440" cy="21945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6916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5" name="TextBox 4"/>
          <p:cNvSpPr txBox="1"/>
          <p:nvPr/>
        </p:nvSpPr>
        <p:spPr>
          <a:xfrm>
            <a:off x="1463040" y="1645920"/>
            <a:ext cx="2468880" cy="640080"/>
          </a:xfrm>
          <a:prstGeom prst="rect">
            <a:avLst/>
          </a:prstGeom>
          <a:noFill/>
        </p:spPr>
        <p:txBody>
          <a:bodyPr wrap="square" anchor="ctr" lIns="0" rIns="0" tIns="0" bIns="0">
            <a:spAutoFit/>
          </a:bodyPr>
          <a:lstStyle/>
          <a:p>
            <a:pPr algn="l"/>
            <a:r>
              <a:rPr sz="1600" b="1" i="0">
                <a:solidFill>
                  <a:srgbClr val="1E2329"/>
                </a:solidFill>
                <a:latin typeface="Calibri"/>
              </a:rPr>
              <a:t>Búsqueda exacta, sin índice vectorial</a:t>
            </a:r>
          </a:p>
        </p:txBody>
      </p:sp>
      <p:sp>
        <p:nvSpPr>
          <p:cNvPr id="6" name="TextBox 5"/>
          <p:cNvSpPr txBox="1"/>
          <p:nvPr/>
        </p:nvSpPr>
        <p:spPr>
          <a:xfrm>
            <a:off x="822959" y="2423160"/>
            <a:ext cx="3017520" cy="1097280"/>
          </a:xfrm>
          <a:prstGeom prst="rect">
            <a:avLst/>
          </a:prstGeom>
          <a:noFill/>
        </p:spPr>
        <p:txBody>
          <a:bodyPr wrap="square" anchor="t" lIns="0" rIns="0" tIns="0" bIns="0">
            <a:spAutoFit/>
          </a:bodyPr>
          <a:lstStyle/>
          <a:p>
            <a:pPr algn="l"/>
            <a:r>
              <a:rPr sz="1400" b="0" i="0">
                <a:solidFill>
                  <a:srgbClr val="5B6670"/>
                </a:solidFill>
                <a:latin typeface="Calibri"/>
              </a:rPr>
              <a:t>k-NN con VECTOR_DISTANCE sobre 72 fragmentos. DiskANN es aproximado y está en preview</a:t>
            </a:r>
          </a:p>
        </p:txBody>
      </p:sp>
      <p:sp>
        <p:nvSpPr>
          <p:cNvPr id="7" name="Rounded Rectangle 6"/>
          <p:cNvSpPr/>
          <p:nvPr/>
        </p:nvSpPr>
        <p:spPr>
          <a:xfrm>
            <a:off x="4306824" y="1417320"/>
            <a:ext cx="3520440" cy="21945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81144" y="16916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5221224" y="1645920"/>
            <a:ext cx="2468880" cy="640080"/>
          </a:xfrm>
          <a:prstGeom prst="rect">
            <a:avLst/>
          </a:prstGeom>
          <a:noFill/>
        </p:spPr>
        <p:txBody>
          <a:bodyPr wrap="square" anchor="ctr" lIns="0" rIns="0" tIns="0" bIns="0">
            <a:spAutoFit/>
          </a:bodyPr>
          <a:lstStyle/>
          <a:p>
            <a:pPr algn="l"/>
            <a:r>
              <a:rPr sz="1600" b="1" i="0">
                <a:solidFill>
                  <a:srgbClr val="1E2329"/>
                </a:solidFill>
                <a:latin typeface="Calibri"/>
              </a:rPr>
              <a:t>IS_MEMBER() y no SESSION_CONTEXT</a:t>
            </a:r>
          </a:p>
        </p:txBody>
      </p:sp>
      <p:sp>
        <p:nvSpPr>
          <p:cNvPr id="10" name="TextBox 9"/>
          <p:cNvSpPr txBox="1"/>
          <p:nvPr/>
        </p:nvSpPr>
        <p:spPr>
          <a:xfrm>
            <a:off x="4581144" y="2423160"/>
            <a:ext cx="3017520" cy="1097280"/>
          </a:xfrm>
          <a:prstGeom prst="rect">
            <a:avLst/>
          </a:prstGeom>
          <a:noFill/>
        </p:spPr>
        <p:txBody>
          <a:bodyPr wrap="square" anchor="t" lIns="0" rIns="0" tIns="0" bIns="0">
            <a:spAutoFit/>
          </a:bodyPr>
          <a:lstStyle/>
          <a:p>
            <a:pPr algn="l"/>
            <a:r>
              <a:rPr sz="1400" b="0" i="0">
                <a:solidFill>
                  <a:srgbClr val="5B6670"/>
                </a:solidFill>
                <a:latin typeface="Calibri"/>
              </a:rPr>
              <a:t>La seguridad depende de la identidad, no de lo que envíe el cliente</a:t>
            </a:r>
          </a:p>
        </p:txBody>
      </p:sp>
      <p:sp>
        <p:nvSpPr>
          <p:cNvPr id="11" name="Rounded Rectangle 10"/>
          <p:cNvSpPr/>
          <p:nvPr/>
        </p:nvSpPr>
        <p:spPr>
          <a:xfrm>
            <a:off x="8065008" y="1417320"/>
            <a:ext cx="3520440" cy="21945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39328" y="16916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8979408" y="1645920"/>
            <a:ext cx="2468880" cy="640080"/>
          </a:xfrm>
          <a:prstGeom prst="rect">
            <a:avLst/>
          </a:prstGeom>
          <a:noFill/>
        </p:spPr>
        <p:txBody>
          <a:bodyPr wrap="square" anchor="ctr" lIns="0" rIns="0" tIns="0" bIns="0">
            <a:spAutoFit/>
          </a:bodyPr>
          <a:lstStyle/>
          <a:p>
            <a:pPr algn="l"/>
            <a:r>
              <a:rPr sz="1600" b="1" i="0">
                <a:solidFill>
                  <a:srgbClr val="1E2329"/>
                </a:solidFill>
                <a:latin typeface="Calibri"/>
              </a:rPr>
              <a:t>Usuarios WITHOUT LOGIN + EXECUTE AS</a:t>
            </a:r>
          </a:p>
        </p:txBody>
      </p:sp>
      <p:sp>
        <p:nvSpPr>
          <p:cNvPr id="14" name="TextBox 13"/>
          <p:cNvSpPr txBox="1"/>
          <p:nvPr/>
        </p:nvSpPr>
        <p:spPr>
          <a:xfrm>
            <a:off x="8339328" y="2423160"/>
            <a:ext cx="3017520" cy="1097280"/>
          </a:xfrm>
          <a:prstGeom prst="rect">
            <a:avLst/>
          </a:prstGeom>
          <a:noFill/>
        </p:spPr>
        <p:txBody>
          <a:bodyPr wrap="square" anchor="t" lIns="0" rIns="0" tIns="0" bIns="0">
            <a:spAutoFit/>
          </a:bodyPr>
          <a:lstStyle/>
          <a:p>
            <a:pPr algn="l"/>
            <a:r>
              <a:rPr sz="1400" b="0" i="0">
                <a:solidFill>
                  <a:srgbClr val="5B6670"/>
                </a:solidFill>
                <a:latin typeface="Calibri"/>
              </a:rPr>
              <a:t>Pruebas de RLS sin contraseñas. En producción, identidad de Windows o Entra ID</a:t>
            </a:r>
          </a:p>
        </p:txBody>
      </p:sp>
      <p:sp>
        <p:nvSpPr>
          <p:cNvPr id="15" name="Rounded Rectangle 14"/>
          <p:cNvSpPr/>
          <p:nvPr/>
        </p:nvSpPr>
        <p:spPr>
          <a:xfrm>
            <a:off x="548640" y="3840480"/>
            <a:ext cx="3520440" cy="21945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22959" y="411480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7" name="TextBox 16"/>
          <p:cNvSpPr txBox="1"/>
          <p:nvPr/>
        </p:nvSpPr>
        <p:spPr>
          <a:xfrm>
            <a:off x="1463040" y="4069080"/>
            <a:ext cx="2468880" cy="640080"/>
          </a:xfrm>
          <a:prstGeom prst="rect">
            <a:avLst/>
          </a:prstGeom>
          <a:noFill/>
        </p:spPr>
        <p:txBody>
          <a:bodyPr wrap="square" anchor="ctr" lIns="0" rIns="0" tIns="0" bIns="0">
            <a:spAutoFit/>
          </a:bodyPr>
          <a:lstStyle/>
          <a:p>
            <a:pPr algn="l"/>
            <a:r>
              <a:rPr sz="1600" b="1" i="0">
                <a:solidFill>
                  <a:srgbClr val="1E2329"/>
                </a:solidFill>
                <a:latin typeface="Calibri"/>
              </a:rPr>
              <a:t>Sin EXECUTE AS OWNER en el procedimiento</a:t>
            </a:r>
          </a:p>
        </p:txBody>
      </p:sp>
      <p:sp>
        <p:nvSpPr>
          <p:cNvPr id="18" name="TextBox 17"/>
          <p:cNvSpPr txBox="1"/>
          <p:nvPr/>
        </p:nvSpPr>
        <p:spPr>
          <a:xfrm>
            <a:off x="822959" y="4846320"/>
            <a:ext cx="3017520" cy="1097280"/>
          </a:xfrm>
          <a:prstGeom prst="rect">
            <a:avLst/>
          </a:prstGeom>
          <a:noFill/>
        </p:spPr>
        <p:txBody>
          <a:bodyPr wrap="square" anchor="t" lIns="0" rIns="0" tIns="0" bIns="0">
            <a:spAutoFit/>
          </a:bodyPr>
          <a:lstStyle/>
          <a:p>
            <a:pPr algn="l"/>
            <a:r>
              <a:rPr sz="1400" b="0" i="0">
                <a:solidFill>
                  <a:srgbClr val="5B6670"/>
                </a:solidFill>
                <a:latin typeface="Calibri"/>
              </a:rPr>
              <a:t>IS_MEMBER() evalúa a quien llama; el encadenamiento de propiedad da acceso a las tablas</a:t>
            </a:r>
          </a:p>
        </p:txBody>
      </p:sp>
      <p:sp>
        <p:nvSpPr>
          <p:cNvPr id="19" name="Rounded Rectangle 18"/>
          <p:cNvSpPr/>
          <p:nvPr/>
        </p:nvSpPr>
        <p:spPr>
          <a:xfrm>
            <a:off x="4306824" y="3840480"/>
            <a:ext cx="3520440" cy="21945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81144" y="411480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1" name="TextBox 20"/>
          <p:cNvSpPr txBox="1"/>
          <p:nvPr/>
        </p:nvSpPr>
        <p:spPr>
          <a:xfrm>
            <a:off x="5221224" y="4069080"/>
            <a:ext cx="2468880" cy="640080"/>
          </a:xfrm>
          <a:prstGeom prst="rect">
            <a:avLst/>
          </a:prstGeom>
          <a:noFill/>
        </p:spPr>
        <p:txBody>
          <a:bodyPr wrap="square" anchor="ctr" lIns="0" rIns="0" tIns="0" bIns="0">
            <a:spAutoFit/>
          </a:bodyPr>
          <a:lstStyle/>
          <a:p>
            <a:pPr algn="l"/>
            <a:r>
              <a:rPr sz="1600" b="1" i="0">
                <a:solidFill>
                  <a:srgbClr val="1E2329"/>
                </a:solidFill>
                <a:latin typeface="Calibri"/>
              </a:rPr>
              <a:t>Embeddings antes de activar el RLS</a:t>
            </a:r>
          </a:p>
        </p:txBody>
      </p:sp>
      <p:sp>
        <p:nvSpPr>
          <p:cNvPr id="22" name="TextBox 21"/>
          <p:cNvSpPr txBox="1"/>
          <p:nvPr/>
        </p:nvSpPr>
        <p:spPr>
          <a:xfrm>
            <a:off x="4581144" y="4846320"/>
            <a:ext cx="3017520" cy="1097280"/>
          </a:xfrm>
          <a:prstGeom prst="rect">
            <a:avLst/>
          </a:prstGeom>
          <a:noFill/>
        </p:spPr>
        <p:txBody>
          <a:bodyPr wrap="square" anchor="t" lIns="0" rIns="0" tIns="0" bIns="0">
            <a:spAutoFit/>
          </a:bodyPr>
          <a:lstStyle/>
          <a:p>
            <a:pPr algn="l"/>
            <a:r>
              <a:rPr sz="1400" b="0" i="0">
                <a:solidFill>
                  <a:srgbClr val="5B6670"/>
                </a:solidFill>
                <a:latin typeface="Calibri"/>
              </a:rPr>
              <a:t>El filter predicate también filtra los UPDATE: dbo vectorizaría 0 filas sin error</a:t>
            </a:r>
          </a:p>
        </p:txBody>
      </p:sp>
      <p:sp>
        <p:nvSpPr>
          <p:cNvPr id="23" name="Rounded Rectangle 22"/>
          <p:cNvSpPr/>
          <p:nvPr/>
        </p:nvSpPr>
        <p:spPr>
          <a:xfrm>
            <a:off x="8065008" y="3840480"/>
            <a:ext cx="3520440" cy="21945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339328" y="411480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25" name="TextBox 24"/>
          <p:cNvSpPr txBox="1"/>
          <p:nvPr/>
        </p:nvSpPr>
        <p:spPr>
          <a:xfrm>
            <a:off x="8979408" y="4069080"/>
            <a:ext cx="2468880" cy="640080"/>
          </a:xfrm>
          <a:prstGeom prst="rect">
            <a:avLst/>
          </a:prstGeom>
          <a:noFill/>
        </p:spPr>
        <p:txBody>
          <a:bodyPr wrap="square" anchor="ctr" lIns="0" rIns="0" tIns="0" bIns="0">
            <a:spAutoFit/>
          </a:bodyPr>
          <a:lstStyle/>
          <a:p>
            <a:pPr algn="l"/>
            <a:r>
              <a:rPr sz="1600" b="1" i="0">
                <a:solidFill>
                  <a:srgbClr val="1E2329"/>
                </a:solidFill>
                <a:latin typeface="Calibri"/>
              </a:rPr>
              <a:t>Mínimo privilegio</a:t>
            </a:r>
          </a:p>
        </p:txBody>
      </p:sp>
      <p:sp>
        <p:nvSpPr>
          <p:cNvPr id="26" name="TextBox 25"/>
          <p:cNvSpPr txBox="1"/>
          <p:nvPr/>
        </p:nvSpPr>
        <p:spPr>
          <a:xfrm>
            <a:off x="8339328" y="4846320"/>
            <a:ext cx="3017520" cy="1097280"/>
          </a:xfrm>
          <a:prstGeom prst="rect">
            <a:avLst/>
          </a:prstGeom>
          <a:noFill/>
        </p:spPr>
        <p:txBody>
          <a:bodyPr wrap="square" anchor="t" lIns="0" rIns="0" tIns="0" bIns="0">
            <a:spAutoFit/>
          </a:bodyPr>
          <a:lstStyle/>
          <a:p>
            <a:pPr algn="l"/>
            <a:r>
              <a:rPr sz="1400" b="0" i="0">
                <a:solidFill>
                  <a:srgbClr val="5B6670"/>
                </a:solidFill>
                <a:latin typeface="Calibri"/>
              </a:rPr>
              <a:t>SELECT sobre las tablas de normativas y EXECUTE sobre el procedimiento y el modelo; nada más</a:t>
            </a:r>
          </a:p>
        </p:txBody>
      </p:sp>
      <p:sp>
        <p:nvSpPr>
          <p:cNvPr id="27" name="TextBox 26"/>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Hallazgo 1 · El tokenizador trunca a 128 tokens</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Vocabulario inglés: «Permiso retribuido por mudanza» ya son 10 tokens</a:t>
            </a:r>
          </a:p>
        </p:txBody>
      </p:sp>
      <p:sp>
        <p:nvSpPr>
          <p:cNvPr id="4" name="Rounded Rectangle 3"/>
          <p:cNvSpPr/>
          <p:nvPr/>
        </p:nvSpPr>
        <p:spPr>
          <a:xfrm>
            <a:off x="548640" y="1737360"/>
            <a:ext cx="3017520" cy="2926080"/>
          </a:xfrm>
          <a:prstGeom prst="roundRect">
            <a:avLst>
              <a:gd name="adj" fmla="val 6000"/>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965960"/>
            <a:ext cx="3017520" cy="1188720"/>
          </a:xfrm>
          <a:prstGeom prst="rect">
            <a:avLst/>
          </a:prstGeom>
          <a:noFill/>
        </p:spPr>
        <p:txBody>
          <a:bodyPr wrap="square" anchor="ctr" lIns="0" rIns="0" tIns="0" bIns="0">
            <a:spAutoFit/>
          </a:bodyPr>
          <a:lstStyle/>
          <a:p>
            <a:pPr algn="ctr"/>
            <a:r>
              <a:rPr sz="5400" b="1" i="0">
                <a:solidFill>
                  <a:srgbClr val="E89A22"/>
                </a:solidFill>
                <a:latin typeface="Calibri"/>
              </a:rPr>
              <a:t>35 / 37</a:t>
            </a:r>
          </a:p>
        </p:txBody>
      </p:sp>
      <p:sp>
        <p:nvSpPr>
          <p:cNvPr id="6" name="TextBox 5"/>
          <p:cNvSpPr txBox="1"/>
          <p:nvPr/>
        </p:nvSpPr>
        <p:spPr>
          <a:xfrm>
            <a:off x="731520" y="3200400"/>
            <a:ext cx="2651760" cy="1280160"/>
          </a:xfrm>
          <a:prstGeom prst="rect">
            <a:avLst/>
          </a:prstGeom>
          <a:noFill/>
        </p:spPr>
        <p:txBody>
          <a:bodyPr wrap="square" anchor="t" lIns="0" rIns="0" tIns="0" bIns="0">
            <a:spAutoFit/>
          </a:bodyPr>
          <a:lstStyle/>
          <a:p>
            <a:pPr algn="ctr"/>
            <a:r>
              <a:rPr sz="1500" b="0" i="0">
                <a:solidFill>
                  <a:srgbClr val="1E2329"/>
                </a:solidFill>
                <a:latin typeface="Calibri"/>
              </a:rPr>
              <a:t>normativas superaban el límite: solo se vectorizaba su comienzo</a:t>
            </a:r>
          </a:p>
        </p:txBody>
      </p:sp>
      <p:cxnSp>
        <p:nvCxnSpPr>
          <p:cNvPr id="7" name="Connector 6"/>
          <p:cNvCxnSpPr/>
          <p:nvPr/>
        </p:nvCxnSpPr>
        <p:spPr>
          <a:xfrm>
            <a:off x="3703320" y="3200400"/>
            <a:ext cx="640080" cy="0"/>
          </a:xfrm>
          <a:prstGeom prst="line">
            <a:avLst/>
          </a:prstGeom>
          <a:ln w="38100">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480560" y="1737360"/>
            <a:ext cx="3017520" cy="2926080"/>
          </a:xfrm>
          <a:prstGeom prst="roundRect">
            <a:avLst>
              <a:gd name="adj" fmla="val 6000"/>
            </a:avLst>
          </a:prstGeom>
          <a:solidFill>
            <a:srgbClr val="E2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0560" y="1965960"/>
            <a:ext cx="3017520" cy="1188720"/>
          </a:xfrm>
          <a:prstGeom prst="rect">
            <a:avLst/>
          </a:prstGeom>
          <a:noFill/>
        </p:spPr>
        <p:txBody>
          <a:bodyPr wrap="square" anchor="ctr" lIns="0" rIns="0" tIns="0" bIns="0">
            <a:spAutoFit/>
          </a:bodyPr>
          <a:lstStyle/>
          <a:p>
            <a:pPr algn="ctr"/>
            <a:r>
              <a:rPr sz="5400" b="1" i="0">
                <a:solidFill>
                  <a:srgbClr val="0E9F8E"/>
                </a:solidFill>
                <a:latin typeface="Calibri"/>
              </a:rPr>
              <a:t>0 / 72</a:t>
            </a:r>
          </a:p>
        </p:txBody>
      </p:sp>
      <p:sp>
        <p:nvSpPr>
          <p:cNvPr id="10" name="TextBox 9"/>
          <p:cNvSpPr txBox="1"/>
          <p:nvPr/>
        </p:nvSpPr>
        <p:spPr>
          <a:xfrm>
            <a:off x="4663440" y="3200400"/>
            <a:ext cx="2651760" cy="1280160"/>
          </a:xfrm>
          <a:prstGeom prst="rect">
            <a:avLst/>
          </a:prstGeom>
          <a:noFill/>
        </p:spPr>
        <p:txBody>
          <a:bodyPr wrap="square" anchor="t" lIns="0" rIns="0" tIns="0" bIns="0">
            <a:spAutoFit/>
          </a:bodyPr>
          <a:lstStyle/>
          <a:p>
            <a:pPr algn="ctr"/>
            <a:r>
              <a:rPr sz="1500" b="0" i="0">
                <a:solidFill>
                  <a:srgbClr val="1E2329"/>
                </a:solidFill>
                <a:latin typeface="Calibri"/>
              </a:rPr>
              <a:t>fragmentos truncados tras dividir (máximo: 126 tokens)</a:t>
            </a:r>
          </a:p>
        </p:txBody>
      </p:sp>
      <p:sp>
        <p:nvSpPr>
          <p:cNvPr id="11" name="TextBox 10"/>
          <p:cNvSpPr txBox="1"/>
          <p:nvPr/>
        </p:nvSpPr>
        <p:spPr>
          <a:xfrm>
            <a:off x="7863840" y="1783080"/>
            <a:ext cx="3776472" cy="4206240"/>
          </a:xfrm>
          <a:prstGeom prst="rect">
            <a:avLst/>
          </a:prstGeom>
          <a:noFill/>
        </p:spPr>
        <p:txBody>
          <a:bodyPr wrap="square" anchor="t" lIns="0" rIns="0" tIns="0" bIns="0">
            <a:spAutoFit/>
          </a:bodyPr>
          <a:lstStyle/>
          <a:p>
            <a:pPr algn="l" marL="228600" indent="-228600">
              <a:spcAft>
                <a:spcPts val="1000"/>
              </a:spcAft>
              <a:buClr>
                <a:srgbClr val="0E9F8E"/>
              </a:buClr>
              <a:buFont typeface="Arial"/>
              <a:buChar char="•"/>
            </a:pPr>
            <a:r>
              <a:rPr sz="1500" b="1" i="0">
                <a:solidFill>
                  <a:srgbClr val="1E2329"/>
                </a:solidFill>
                <a:latin typeface="Calibri"/>
              </a:rPr>
              <a:t>Detectado </a:t>
            </a:r>
            <a:r>
              <a:rPr sz="1500" b="0" i="0">
                <a:solidFill>
                  <a:srgbClr val="1E2329"/>
                </a:solidFill>
                <a:latin typeface="Calibri"/>
              </a:rPr>
              <a:t>leyendo tokenizer.json: truncation.max_length = 128</a:t>
            </a:r>
          </a:p>
          <a:p>
            <a:pPr algn="l" marL="228600" indent="-228600">
              <a:spcAft>
                <a:spcPts val="1000"/>
              </a:spcAft>
              <a:buClr>
                <a:srgbClr val="0E9F8E"/>
              </a:buClr>
              <a:buFont typeface="Arial"/>
              <a:buChar char="•"/>
            </a:pPr>
            <a:r>
              <a:rPr sz="1500" b="1" i="0">
                <a:solidFill>
                  <a:srgbClr val="1E2329"/>
                </a:solidFill>
                <a:latin typeface="Calibri"/>
              </a:rPr>
              <a:t>Solución: </a:t>
            </a:r>
            <a:r>
              <a:rPr sz="1500" b="0" i="0">
                <a:solidFill>
                  <a:srgbClr val="1E2329"/>
                </a:solidFill>
                <a:latin typeface="Calibri"/>
              </a:rPr>
              <a:t>cada normativa larga se dividió en dos fragmentos (a/b) por frases, repitiendo el título</a:t>
            </a:r>
          </a:p>
          <a:p>
            <a:pPr algn="l" marL="228600" indent="-228600">
              <a:spcAft>
                <a:spcPts val="1000"/>
              </a:spcAft>
              <a:buClr>
                <a:srgbClr val="0E9F8E"/>
              </a:buClr>
              <a:buFont typeface="Arial"/>
              <a:buChar char="•"/>
            </a:pPr>
            <a:r>
              <a:rPr sz="1500" b="1" i="0">
                <a:solidFill>
                  <a:srgbClr val="1E2329"/>
                </a:solidFill>
                <a:latin typeface="Calibri"/>
              </a:rPr>
              <a:t>Verificado </a:t>
            </a:r>
            <a:r>
              <a:rPr sz="1500" b="0" i="0">
                <a:solidFill>
                  <a:srgbClr val="1E2329"/>
                </a:solidFill>
                <a:latin typeface="Calibri"/>
              </a:rPr>
              <a:t>con la propia tokenizers_cpp.dll: el mismo cálculo que hace SQL Server</a:t>
            </a:r>
          </a:p>
          <a:p>
            <a:pPr algn="l" marL="228600" indent="-228600">
              <a:spcAft>
                <a:spcPts val="1000"/>
              </a:spcAft>
              <a:buClr>
                <a:srgbClr val="0E9F8E"/>
              </a:buClr>
              <a:buFont typeface="Arial"/>
              <a:buChar char="•"/>
            </a:pPr>
            <a:r>
              <a:rPr sz="1500" b="1" i="0">
                <a:solidFill>
                  <a:srgbClr val="1E2329"/>
                </a:solidFill>
                <a:latin typeface="Calibri"/>
              </a:rPr>
              <a:t>AI_GENERATE_CHUNKS </a:t>
            </a:r>
            <a:r>
              <a:rPr sz="1500" b="0" i="0">
                <a:solidFill>
                  <a:srgbClr val="1E2329"/>
                </a:solidFill>
                <a:latin typeface="Calibri"/>
              </a:rPr>
              <a:t>corta por caracteres, sin conocer tokens ni frases</a:t>
            </a:r>
          </a:p>
        </p:txBody>
      </p:sp>
      <p:sp>
        <p:nvSpPr>
          <p:cNvPr id="12" name="Rounded Rectangle 11"/>
          <p:cNvSpPr/>
          <p:nvPr/>
        </p:nvSpPr>
        <p:spPr>
          <a:xfrm>
            <a:off x="548640" y="4983480"/>
            <a:ext cx="6949440" cy="109728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5074920"/>
            <a:ext cx="6583680" cy="914400"/>
          </a:xfrm>
          <a:prstGeom prst="rect">
            <a:avLst/>
          </a:prstGeom>
          <a:noFill/>
        </p:spPr>
        <p:txBody>
          <a:bodyPr wrap="square" anchor="ctr" lIns="0" rIns="0" tIns="0" bIns="0">
            <a:spAutoFit/>
          </a:bodyPr>
          <a:lstStyle/>
          <a:p>
            <a:pPr algn="l">
              <a:spcAft>
                <a:spcPts val="400"/>
              </a:spcAft>
            </a:pPr>
            <a:r>
              <a:rPr sz="1400" b="1" i="0">
                <a:solidFill>
                  <a:srgbClr val="0E9F8E"/>
                </a:solidFill>
                <a:latin typeface="Consolas"/>
              </a:rPr>
              <a:t>VEN-TRA-01a  </a:t>
            </a:r>
            <a:r>
              <a:rPr sz="1400" b="0" i="0">
                <a:solidFill>
                  <a:srgbClr val="1E2329"/>
                </a:solidFill>
                <a:latin typeface="Calibri"/>
              </a:rPr>
              <a:t>Traslado… se conceden 3 días laborables de permiso…</a:t>
            </a:r>
          </a:p>
          <a:p>
            <a:pPr algn="l">
              <a:spcAft>
                <a:spcPts val="400"/>
              </a:spcAft>
            </a:pPr>
            <a:r>
              <a:rPr sz="1400" b="1" i="0">
                <a:solidFill>
                  <a:srgbClr val="0E9F8E"/>
                </a:solidFill>
                <a:latin typeface="Consolas"/>
              </a:rPr>
              <a:t>VEN-TRA-01b  </a:t>
            </a:r>
            <a:r>
              <a:rPr sz="1400" b="0" i="0">
                <a:solidFill>
                  <a:srgbClr val="1E2329"/>
                </a:solidFill>
                <a:latin typeface="Calibri"/>
              </a:rPr>
              <a:t>Traslado… se pagan los gastos de mudanza, hasta 2.500 €…</a:t>
            </a:r>
          </a:p>
        </p:txBody>
      </p:sp>
      <p:sp>
        <p:nvSpPr>
          <p:cNvPr id="14" name="TextBox 13"/>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Hallazgo 2 · El padding comprimía las distancias</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Distancia coseno entre pares de frases (más alta = más distintas)</a:t>
            </a:r>
          </a:p>
        </p:txBody>
      </p:sp>
      <p:graphicFrame>
        <p:nvGraphicFramePr>
          <p:cNvPr id="4" name="Chart 3"/>
          <p:cNvGraphicFramePr>
            <a:graphicFrameLocks noGrp="1"/>
          </p:cNvGraphicFramePr>
          <p:nvPr/>
        </p:nvGraphicFramePr>
        <p:xfrm>
          <a:off x="548640" y="1554480"/>
          <a:ext cx="7315200" cy="4572000"/>
        </p:xfrm>
        <a:graphic>
          <a:graphicData uri="http://schemas.openxmlformats.org/drawingml/2006/chart">
            <c:chart xmlns:c="http://schemas.openxmlformats.org/drawingml/2006/chart" r:id="rId2"/>
          </a:graphicData>
        </a:graphic>
      </p:graphicFrame>
      <p:sp>
        <p:nvSpPr>
          <p:cNvPr id="5" name="TextBox 4"/>
          <p:cNvSpPr txBox="1"/>
          <p:nvPr/>
        </p:nvSpPr>
        <p:spPr>
          <a:xfrm>
            <a:off x="8229600" y="1737360"/>
            <a:ext cx="3410712" cy="4389120"/>
          </a:xfrm>
          <a:prstGeom prst="rect">
            <a:avLst/>
          </a:prstGeom>
          <a:noFill/>
        </p:spPr>
        <p:txBody>
          <a:bodyPr wrap="square" anchor="t" lIns="0" rIns="0" tIns="0" bIns="0">
            <a:spAutoFit/>
          </a:bodyPr>
          <a:lstStyle/>
          <a:p>
            <a:pPr algn="l" marL="228600" indent="-228600">
              <a:spcAft>
                <a:spcPts val="1000"/>
              </a:spcAft>
              <a:buClr>
                <a:srgbClr val="0E9F8E"/>
              </a:buClr>
              <a:buFont typeface="Arial"/>
              <a:buChar char="•"/>
            </a:pPr>
            <a:r>
              <a:rPr sz="1500" b="1" i="0">
                <a:solidFill>
                  <a:srgbClr val="1E2329"/>
                </a:solidFill>
                <a:latin typeface="Calibri"/>
              </a:rPr>
              <a:t>Síntoma: </a:t>
            </a:r>
            <a:r>
              <a:rPr sz="1500" b="0" i="0">
                <a:solidFill>
                  <a:srgbClr val="1E2329"/>
                </a:solidFill>
                <a:latin typeface="Calibri"/>
              </a:rPr>
              <a:t>distancias diminutas y muy juntas</a:t>
            </a:r>
          </a:p>
          <a:p>
            <a:pPr algn="l" marL="228600" indent="-228600">
              <a:spcAft>
                <a:spcPts val="1000"/>
              </a:spcAft>
              <a:buClr>
                <a:srgbClr val="0E9F8E"/>
              </a:buClr>
              <a:buFont typeface="Arial"/>
              <a:buChar char="•"/>
            </a:pPr>
            <a:r>
              <a:rPr sz="1500" b="1" i="0">
                <a:solidFill>
                  <a:srgbClr val="1E2329"/>
                </a:solidFill>
                <a:latin typeface="Calibri"/>
              </a:rPr>
              <a:t>Hipótesis: </a:t>
            </a:r>
            <a:r>
              <a:rPr sz="1500" b="0" i="0">
                <a:solidFill>
                  <a:srgbClr val="1E2329"/>
                </a:solidFill>
                <a:latin typeface="Calibri"/>
              </a:rPr>
              <a:t>el relleno [PAD] hasta 128 tokens entraba en el promedio</a:t>
            </a:r>
          </a:p>
          <a:p>
            <a:pPr algn="l" marL="228600" indent="-228600">
              <a:spcAft>
                <a:spcPts val="1000"/>
              </a:spcAft>
              <a:buClr>
                <a:srgbClr val="0E9F8E"/>
              </a:buClr>
              <a:buFont typeface="Arial"/>
              <a:buChar char="•"/>
            </a:pPr>
            <a:r>
              <a:rPr sz="1500" b="1" i="0">
                <a:solidFill>
                  <a:srgbClr val="1E2329"/>
                </a:solidFill>
                <a:latin typeface="Calibri"/>
              </a:rPr>
              <a:t>Experimento: </a:t>
            </a:r>
            <a:r>
              <a:rPr sz="1500" b="0" i="0">
                <a:solidFill>
                  <a:srgbClr val="1E2329"/>
                </a:solidFill>
                <a:latin typeface="Calibri"/>
              </a:rPr>
              <a:t>modelo temporal con "padding": null, mismos pares</a:t>
            </a:r>
          </a:p>
          <a:p>
            <a:pPr algn="l" marL="228600" indent="-228600">
              <a:spcAft>
                <a:spcPts val="1000"/>
              </a:spcAft>
              <a:buClr>
                <a:srgbClr val="0E9F8E"/>
              </a:buClr>
              <a:buFont typeface="Arial"/>
              <a:buChar char="•"/>
            </a:pPr>
            <a:r>
              <a:rPr sz="1500" b="1" i="0">
                <a:solidFill>
                  <a:srgbClr val="1E2329"/>
                </a:solidFill>
                <a:latin typeface="Calibri"/>
              </a:rPr>
              <a:t>Resultado: </a:t>
            </a:r>
            <a:r>
              <a:rPr sz="1500" b="0" i="0">
                <a:solidFill>
                  <a:srgbClr val="1E2329"/>
                </a:solidFill>
                <a:latin typeface="Calibri"/>
              </a:rPr>
              <a:t>×3–5 más separación y sin sesgo por longitud del texto</a:t>
            </a:r>
          </a:p>
          <a:p>
            <a:pPr algn="l" marL="228600" indent="-228600">
              <a:spcAft>
                <a:spcPts val="1000"/>
              </a:spcAft>
              <a:buClr>
                <a:srgbClr val="0E9F8E"/>
              </a:buClr>
              <a:buFont typeface="Arial"/>
              <a:buChar char="•"/>
            </a:pPr>
            <a:r>
              <a:rPr sz="1500" b="1" i="0">
                <a:solidFill>
                  <a:srgbClr val="1E2329"/>
                </a:solidFill>
                <a:latin typeface="Calibri"/>
              </a:rPr>
              <a:t>Español: </a:t>
            </a:r>
            <a:r>
              <a:rPr sz="1500" b="0" i="0">
                <a:solidFill>
                  <a:srgbClr val="1E2329"/>
                </a:solidFill>
                <a:latin typeface="Calibri"/>
              </a:rPr>
              <a:t>sigue siendo débil (mudanza/seguridad) → hallazgo 3</a:t>
            </a:r>
          </a:p>
        </p:txBody>
      </p:sp>
      <p:sp>
        <p:nvSpPr>
          <p:cNvPr id="6" name="TextBox 5"/>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Hallazgo 3 · Búsqueda híbrida con Reciprocal Rank Fusion</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12 preguntas con respuesta conocida · 10_evaluacion_recuperacion.sql</a:t>
            </a:r>
          </a:p>
        </p:txBody>
      </p:sp>
      <p:graphicFrame>
        <p:nvGraphicFramePr>
          <p:cNvPr id="4" name="Chart 3"/>
          <p:cNvGraphicFramePr>
            <a:graphicFrameLocks noGrp="1"/>
          </p:cNvGraphicFramePr>
          <p:nvPr/>
        </p:nvGraphicFramePr>
        <p:xfrm>
          <a:off x="548640" y="1600200"/>
          <a:ext cx="5120640" cy="4526280"/>
        </p:xfrm>
        <a:graphic>
          <a:graphicData uri="http://schemas.openxmlformats.org/drawingml/2006/chart">
            <c:chart xmlns:c="http://schemas.openxmlformats.org/drawingml/2006/chart" r:id="rId2"/>
          </a:graphicData>
        </a:graphic>
      </p:graphicFrame>
      <p:sp>
        <p:nvSpPr>
          <p:cNvPr id="5" name="Rounded Rectangle 4"/>
          <p:cNvSpPr/>
          <p:nvPr/>
        </p:nvSpPr>
        <p:spPr>
          <a:xfrm>
            <a:off x="6035040" y="1645920"/>
            <a:ext cx="5605272" cy="1097280"/>
          </a:xfrm>
          <a:prstGeom prst="roundRect">
            <a:avLst>
              <a:gd name="adj" fmla="val 8000"/>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0" y="1691640"/>
            <a:ext cx="5303520" cy="1005840"/>
          </a:xfrm>
          <a:prstGeom prst="rect">
            <a:avLst/>
          </a:prstGeom>
          <a:noFill/>
        </p:spPr>
        <p:txBody>
          <a:bodyPr wrap="square" anchor="ctr" lIns="0" rIns="0" tIns="0" bIns="0">
            <a:spAutoFit/>
          </a:bodyPr>
          <a:lstStyle/>
          <a:p>
            <a:pPr algn="ctr"/>
            <a:r>
              <a:rPr sz="1700" b="0" i="0">
                <a:solidFill>
                  <a:srgbClr val="B8C2CC"/>
                </a:solidFill>
                <a:latin typeface="Consolas"/>
              </a:rPr>
              <a:t>RRF = </a:t>
            </a:r>
            <a:r>
              <a:rPr sz="1700" b="0" i="0">
                <a:solidFill>
                  <a:srgbClr val="FFFFFF"/>
                </a:solidFill>
                <a:latin typeface="Consolas"/>
              </a:rPr>
              <a:t>1/(60 + rank_</a:t>
            </a:r>
            <a:r>
              <a:rPr sz="1700" b="0" i="0">
                <a:solidFill>
                  <a:srgbClr val="0E9F8E"/>
                </a:solidFill>
                <a:latin typeface="Consolas"/>
              </a:rPr>
              <a:t>vec</a:t>
            </a:r>
            <a:r>
              <a:rPr sz="1700" b="0" i="0">
                <a:solidFill>
                  <a:srgbClr val="FFFFFF"/>
                </a:solidFill>
                <a:latin typeface="Consolas"/>
              </a:rPr>
              <a:t>) + 1/(60 + rank_</a:t>
            </a:r>
            <a:r>
              <a:rPr sz="1700" b="0" i="0">
                <a:solidFill>
                  <a:srgbClr val="E89A22"/>
                </a:solidFill>
                <a:latin typeface="Consolas"/>
              </a:rPr>
              <a:t>ft</a:t>
            </a:r>
            <a:r>
              <a:rPr sz="1700" b="0" i="0">
                <a:solidFill>
                  <a:srgbClr val="FFFFFF"/>
                </a:solidFill>
                <a:latin typeface="Consolas"/>
              </a:rPr>
              <a:t>)</a:t>
            </a:r>
          </a:p>
        </p:txBody>
      </p:sp>
      <p:sp>
        <p:nvSpPr>
          <p:cNvPr id="7" name="Rounded Rectangle 6"/>
          <p:cNvSpPr/>
          <p:nvPr/>
        </p:nvSpPr>
        <p:spPr>
          <a:xfrm>
            <a:off x="6035040" y="2971800"/>
            <a:ext cx="2724912" cy="15087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17920" y="3063240"/>
            <a:ext cx="2377440" cy="685800"/>
          </a:xfrm>
          <a:prstGeom prst="rect">
            <a:avLst/>
          </a:prstGeom>
          <a:noFill/>
        </p:spPr>
        <p:txBody>
          <a:bodyPr wrap="square" anchor="ctr" lIns="0" rIns="0" tIns="0" bIns="0">
            <a:spAutoFit/>
          </a:bodyPr>
          <a:lstStyle/>
          <a:p>
            <a:pPr algn="l"/>
            <a:r>
              <a:rPr sz="3200" b="1" i="0">
                <a:solidFill>
                  <a:srgbClr val="0E9F8E"/>
                </a:solidFill>
                <a:latin typeface="Calibri"/>
              </a:rPr>
              <a:t>8 → 11</a:t>
            </a:r>
          </a:p>
        </p:txBody>
      </p:sp>
      <p:sp>
        <p:nvSpPr>
          <p:cNvPr id="9" name="TextBox 8"/>
          <p:cNvSpPr txBox="1"/>
          <p:nvPr/>
        </p:nvSpPr>
        <p:spPr>
          <a:xfrm>
            <a:off x="6217920" y="3749039"/>
            <a:ext cx="2377440" cy="685800"/>
          </a:xfrm>
          <a:prstGeom prst="rect">
            <a:avLst/>
          </a:prstGeom>
          <a:noFill/>
        </p:spPr>
        <p:txBody>
          <a:bodyPr wrap="square" anchor="t" lIns="0" rIns="0" tIns="0" bIns="0">
            <a:spAutoFit/>
          </a:bodyPr>
          <a:lstStyle/>
          <a:p>
            <a:pPr algn="l"/>
            <a:r>
              <a:rPr sz="1300" b="0" i="0">
                <a:solidFill>
                  <a:srgbClr val="5B6670"/>
                </a:solidFill>
                <a:latin typeface="Calibri"/>
              </a:rPr>
              <a:t>de 12 con la normativa correcta en el top 4</a:t>
            </a:r>
          </a:p>
        </p:txBody>
      </p:sp>
      <p:sp>
        <p:nvSpPr>
          <p:cNvPr id="10" name="Rounded Rectangle 9"/>
          <p:cNvSpPr/>
          <p:nvPr/>
        </p:nvSpPr>
        <p:spPr>
          <a:xfrm>
            <a:off x="8915400" y="2971800"/>
            <a:ext cx="2724912" cy="1508760"/>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98280" y="3063240"/>
            <a:ext cx="2377440" cy="685800"/>
          </a:xfrm>
          <a:prstGeom prst="rect">
            <a:avLst/>
          </a:prstGeom>
          <a:noFill/>
        </p:spPr>
        <p:txBody>
          <a:bodyPr wrap="square" anchor="ctr" lIns="0" rIns="0" tIns="0" bIns="0">
            <a:spAutoFit/>
          </a:bodyPr>
          <a:lstStyle/>
          <a:p>
            <a:pPr algn="l"/>
            <a:r>
              <a:rPr sz="3200" b="1" i="0">
                <a:solidFill>
                  <a:srgbClr val="E89A22"/>
                </a:solidFill>
                <a:latin typeface="Calibri"/>
              </a:rPr>
              <a:t>33 → 1</a:t>
            </a:r>
          </a:p>
        </p:txBody>
      </p:sp>
      <p:sp>
        <p:nvSpPr>
          <p:cNvPr id="12" name="TextBox 11"/>
          <p:cNvSpPr txBox="1"/>
          <p:nvPr/>
        </p:nvSpPr>
        <p:spPr>
          <a:xfrm>
            <a:off x="9098280" y="3749039"/>
            <a:ext cx="2377440" cy="685800"/>
          </a:xfrm>
          <a:prstGeom prst="rect">
            <a:avLst/>
          </a:prstGeom>
          <a:noFill/>
        </p:spPr>
        <p:txBody>
          <a:bodyPr wrap="square" anchor="t" lIns="0" rIns="0" tIns="0" bIns="0">
            <a:spAutoFit/>
          </a:bodyPr>
          <a:lstStyle/>
          <a:p>
            <a:pPr algn="l"/>
            <a:r>
              <a:rPr sz="1300" b="0" i="0">
                <a:solidFill>
                  <a:srgbClr val="5B6670"/>
                </a:solidFill>
                <a:latin typeface="Calibri"/>
              </a:rPr>
              <a:t>posición de «denuncia de acoso»</a:t>
            </a:r>
          </a:p>
        </p:txBody>
      </p:sp>
      <p:sp>
        <p:nvSpPr>
          <p:cNvPr id="13" name="TextBox 12"/>
          <p:cNvSpPr txBox="1"/>
          <p:nvPr/>
        </p:nvSpPr>
        <p:spPr>
          <a:xfrm>
            <a:off x="6035040" y="4709160"/>
            <a:ext cx="5605272" cy="1463040"/>
          </a:xfrm>
          <a:prstGeom prst="rect">
            <a:avLst/>
          </a:prstGeom>
          <a:noFill/>
        </p:spPr>
        <p:txBody>
          <a:bodyPr wrap="square" anchor="t" lIns="0" rIns="0" tIns="0" bIns="0">
            <a:spAutoFit/>
          </a:bodyPr>
          <a:lstStyle/>
          <a:p>
            <a:pPr algn="l" marL="228600" indent="-228600">
              <a:spcAft>
                <a:spcPts val="600"/>
              </a:spcAft>
              <a:buClr>
                <a:srgbClr val="0E9F8E"/>
              </a:buClr>
              <a:buFont typeface="Arial"/>
              <a:buChar char="•"/>
            </a:pPr>
            <a:r>
              <a:rPr sz="1400" b="0" i="0">
                <a:solidFill>
                  <a:srgbClr val="1E2329"/>
                </a:solidFill>
                <a:latin typeface="Calibri"/>
              </a:rPr>
              <a:t>Full-text en español (lematización) acierta cuando coinciden las palabras; los vectores, cuando cambian</a:t>
            </a:r>
          </a:p>
          <a:p>
            <a:pPr algn="l" marL="228600" indent="-228600">
              <a:spcAft>
                <a:spcPts val="600"/>
              </a:spcAft>
              <a:buClr>
                <a:srgbClr val="0E9F8E"/>
              </a:buClr>
              <a:buFont typeface="Arial"/>
              <a:buChar char="•"/>
            </a:pPr>
            <a:r>
              <a:rPr sz="1400" b="0" i="0">
                <a:solidFill>
                  <a:srgbClr val="1E2329"/>
                </a:solidFill>
                <a:latin typeface="Calibri"/>
              </a:rPr>
              <a:t>k = 60, el valor estándar: ajustarlo a estas 12 preguntas sería sobreajustar</a:t>
            </a:r>
          </a:p>
        </p:txBody>
      </p:sp>
      <p:sp>
        <p:nvSpPr>
          <p:cNvPr id="14" name="TextBox 13"/>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Recuperar por fragmento, entregar la normativa completa</a:t>
            </a:r>
          </a:p>
        </p:txBody>
      </p:sp>
      <p:sp>
        <p:nvSpPr>
          <p:cNvPr id="3" name="Subtítulo"/>
          <p:cNvSpPr txBox="1"/>
          <p:nvPr/>
        </p:nvSpPr>
        <p:spPr>
          <a:xfrm>
            <a:off x="548640" y="1051560"/>
            <a:ext cx="11064240" cy="411480"/>
          </a:xfrm>
          <a:prstGeom prst="rect">
            <a:avLst/>
          </a:prstGeom>
          <a:noFill/>
        </p:spPr>
        <p:txBody>
          <a:bodyPr wrap="square" anchor="t" lIns="0" rIns="0" tIns="0" bIns="0">
            <a:spAutoFit/>
          </a:bodyPr>
          <a:lstStyle/>
          <a:p>
            <a:pPr algn="l"/>
            <a:r>
              <a:rPr sz="1600" b="0" i="0">
                <a:solidFill>
                  <a:srgbClr val="5B6670"/>
                </a:solidFill>
                <a:latin typeface="Calibri"/>
              </a:rPr>
              <a:t>carlos_ventas: «¿Qué días de permiso me corresponden por mudanza…?» · @TopN = 4 · posición en cada ranking</a:t>
            </a:r>
          </a:p>
        </p:txBody>
      </p:sp>
      <p:graphicFrame>
        <p:nvGraphicFramePr>
          <p:cNvPr id="4" name="Table 3"/>
          <p:cNvGraphicFramePr>
            <a:graphicFrameLocks noGrp="1"/>
          </p:cNvGraphicFramePr>
          <p:nvPr/>
        </p:nvGraphicFramePr>
        <p:xfrm>
          <a:off x="548640" y="1737360"/>
          <a:ext cx="6949440" cy="3291840"/>
        </p:xfrm>
        <a:graphic>
          <a:graphicData uri="http://schemas.openxmlformats.org/drawingml/2006/table">
            <a:tbl>
              <a:tblPr firstRow="1" bandRow="1">
                <a:tableStyleId>{5C22544A-7EE6-4342-B048-85BDC9FD1C3A}</a:tableStyleId>
              </a:tblPr>
              <a:tblGrid>
                <a:gridCol w="1737360"/>
                <a:gridCol w="1554480"/>
                <a:gridCol w="1280160"/>
                <a:gridCol w="1280160"/>
                <a:gridCol w="1097280"/>
              </a:tblGrid>
              <a:tr h="548640">
                <a:tc>
                  <a:txBody>
                    <a:bodyPr/>
                    <a:lstStyle/>
                    <a:p>
                      <a:pPr algn="l"/>
                      <a:r>
                        <a:rPr sz="1500" b="1">
                          <a:solidFill>
                            <a:srgbClr val="FFFFFF"/>
                          </a:solidFill>
                          <a:latin typeface="Calibri"/>
                        </a:rPr>
                        <a:t>Código</a:t>
                      </a:r>
                    </a:p>
                  </a:txBody>
                  <a:tcPr marL="109728" marR="109728" anchor="ctr">
                    <a:solidFill>
                      <a:srgbClr val="1E2329"/>
                    </a:solidFill>
                  </a:tcPr>
                </a:tc>
                <a:tc>
                  <a:txBody>
                    <a:bodyPr/>
                    <a:lstStyle/>
                    <a:p>
                      <a:pPr algn="l"/>
                      <a:r>
                        <a:rPr sz="1500" b="1">
                          <a:solidFill>
                            <a:srgbClr val="FFFFFF"/>
                          </a:solidFill>
                          <a:latin typeface="Calibri"/>
                        </a:rPr>
                        <a:t>Departamento</a:t>
                      </a:r>
                    </a:p>
                  </a:txBody>
                  <a:tcPr marL="109728" marR="109728" anchor="ctr">
                    <a:solidFill>
                      <a:srgbClr val="1E2329"/>
                    </a:solidFill>
                  </a:tcPr>
                </a:tc>
                <a:tc>
                  <a:txBody>
                    <a:bodyPr/>
                    <a:lstStyle/>
                    <a:p>
                      <a:pPr algn="ctr"/>
                      <a:r>
                        <a:rPr sz="1500" b="1">
                          <a:solidFill>
                            <a:srgbClr val="FFFFFF"/>
                          </a:solidFill>
                          <a:latin typeface="Calibri"/>
                        </a:rPr>
                        <a:t>Vectorial</a:t>
                      </a:r>
                    </a:p>
                  </a:txBody>
                  <a:tcPr marL="109728" marR="109728" anchor="ctr">
                    <a:solidFill>
                      <a:srgbClr val="1E2329"/>
                    </a:solidFill>
                  </a:tcPr>
                </a:tc>
                <a:tc>
                  <a:txBody>
                    <a:bodyPr/>
                    <a:lstStyle/>
                    <a:p>
                      <a:pPr algn="ctr"/>
                      <a:r>
                        <a:rPr sz="1500" b="1">
                          <a:solidFill>
                            <a:srgbClr val="FFFFFF"/>
                          </a:solidFill>
                          <a:latin typeface="Calibri"/>
                        </a:rPr>
                        <a:t>Full-text</a:t>
                      </a:r>
                    </a:p>
                  </a:txBody>
                  <a:tcPr marL="109728" marR="109728" anchor="ctr">
                    <a:solidFill>
                      <a:srgbClr val="1E2329"/>
                    </a:solidFill>
                  </a:tcPr>
                </a:tc>
                <a:tc>
                  <a:txBody>
                    <a:bodyPr/>
                    <a:lstStyle/>
                    <a:p>
                      <a:pPr algn="ctr"/>
                      <a:r>
                        <a:rPr sz="1500" b="1">
                          <a:solidFill>
                            <a:srgbClr val="FFFFFF"/>
                          </a:solidFill>
                          <a:latin typeface="Calibri"/>
                        </a:rPr>
                        <a:t>Hermano</a:t>
                      </a:r>
                    </a:p>
                  </a:txBody>
                  <a:tcPr marL="109728" marR="109728" anchor="ctr">
                    <a:solidFill>
                      <a:srgbClr val="1E2329"/>
                    </a:solidFill>
                  </a:tcPr>
                </a:tc>
              </a:tr>
              <a:tr h="548640">
                <a:tc>
                  <a:txBody>
                    <a:bodyPr/>
                    <a:lstStyle/>
                    <a:p>
                      <a:pPr algn="l"/>
                      <a:r>
                        <a:rPr sz="1500" b="0">
                          <a:solidFill>
                            <a:srgbClr val="1E2329"/>
                          </a:solidFill>
                          <a:latin typeface="Consolas"/>
                        </a:rPr>
                        <a:t>GEN-PER-01a</a:t>
                      </a:r>
                    </a:p>
                  </a:txBody>
                  <a:tcPr marL="109728" marR="109728" anchor="ctr">
                    <a:solidFill>
                      <a:srgbClr val="EEF2F4"/>
                    </a:solidFill>
                  </a:tcPr>
                </a:tc>
                <a:tc>
                  <a:txBody>
                    <a:bodyPr/>
                    <a:lstStyle/>
                    <a:p>
                      <a:pPr algn="l"/>
                      <a:r>
                        <a:rPr sz="1500" b="0">
                          <a:solidFill>
                            <a:srgbClr val="1E2329"/>
                          </a:solidFill>
                          <a:latin typeface="Calibri"/>
                        </a:rPr>
                        <a:t>General</a:t>
                      </a:r>
                    </a:p>
                  </a:txBody>
                  <a:tcPr marL="109728" marR="109728" anchor="ctr">
                    <a:solidFill>
                      <a:srgbClr val="EEF2F4"/>
                    </a:solidFill>
                  </a:tcPr>
                </a:tc>
                <a:tc>
                  <a:txBody>
                    <a:bodyPr/>
                    <a:lstStyle/>
                    <a:p>
                      <a:pPr algn="ctr"/>
                      <a:r>
                        <a:rPr sz="1500" b="0">
                          <a:solidFill>
                            <a:srgbClr val="1E2329"/>
                          </a:solidFill>
                          <a:latin typeface="Calibri"/>
                        </a:rPr>
                        <a:t>4</a:t>
                      </a:r>
                    </a:p>
                  </a:txBody>
                  <a:tcPr marL="109728" marR="109728" anchor="ctr">
                    <a:solidFill>
                      <a:srgbClr val="EEF2F4"/>
                    </a:solidFill>
                  </a:tcPr>
                </a:tc>
                <a:tc>
                  <a:txBody>
                    <a:bodyPr/>
                    <a:lstStyle/>
                    <a:p>
                      <a:pPr algn="ctr"/>
                      <a:r>
                        <a:rPr sz="1500" b="0">
                          <a:solidFill>
                            <a:srgbClr val="1E2329"/>
                          </a:solidFill>
                          <a:latin typeface="Calibri"/>
                        </a:rPr>
                        <a:t>4</a:t>
                      </a:r>
                    </a:p>
                  </a:txBody>
                  <a:tcPr marL="109728" marR="109728" anchor="ctr">
                    <a:solidFill>
                      <a:srgbClr val="EEF2F4"/>
                    </a:solidFill>
                  </a:tcPr>
                </a:tc>
                <a:tc>
                  <a:txBody>
                    <a:bodyPr/>
                    <a:lstStyle/>
                    <a:p>
                      <a:pPr algn="ctr"/>
                      <a:r>
                        <a:rPr sz="1500" b="0">
                          <a:solidFill>
                            <a:srgbClr val="1E2329"/>
                          </a:solidFill>
                          <a:latin typeface="Calibri"/>
                        </a:rPr>
                        <a:t>0</a:t>
                      </a:r>
                    </a:p>
                  </a:txBody>
                  <a:tcPr marL="109728" marR="109728" anchor="ctr">
                    <a:solidFill>
                      <a:srgbClr val="EEF2F4"/>
                    </a:solidFill>
                  </a:tcPr>
                </a:tc>
              </a:tr>
              <a:tr h="548640">
                <a:tc>
                  <a:txBody>
                    <a:bodyPr/>
                    <a:lstStyle/>
                    <a:p>
                      <a:pPr algn="l"/>
                      <a:r>
                        <a:rPr sz="1500" b="0">
                          <a:solidFill>
                            <a:srgbClr val="1E2329"/>
                          </a:solidFill>
                          <a:latin typeface="Consolas"/>
                        </a:rPr>
                        <a:t>GEN-PER-01b</a:t>
                      </a:r>
                    </a:p>
                  </a:txBody>
                  <a:tcPr marL="109728" marR="109728" anchor="ctr">
                    <a:solidFill>
                      <a:srgbClr val="FFFFFF"/>
                    </a:solidFill>
                  </a:tcPr>
                </a:tc>
                <a:tc>
                  <a:txBody>
                    <a:bodyPr/>
                    <a:lstStyle/>
                    <a:p>
                      <a:pPr algn="l"/>
                      <a:r>
                        <a:rPr sz="1500" b="0">
                          <a:solidFill>
                            <a:srgbClr val="1E2329"/>
                          </a:solidFill>
                          <a:latin typeface="Calibri"/>
                        </a:rPr>
                        <a:t>General</a:t>
                      </a:r>
                    </a:p>
                  </a:txBody>
                  <a:tcPr marL="109728" marR="109728" anchor="ctr">
                    <a:solidFill>
                      <a:srgbClr val="FFFFFF"/>
                    </a:solidFill>
                  </a:tcPr>
                </a:tc>
                <a:tc>
                  <a:txBody>
                    <a:bodyPr/>
                    <a:lstStyle/>
                    <a:p>
                      <a:pPr algn="ctr"/>
                      <a:r>
                        <a:rPr sz="1500" b="0">
                          <a:solidFill>
                            <a:srgbClr val="1E2329"/>
                          </a:solidFill>
                          <a:latin typeface="Calibri"/>
                        </a:rPr>
                        <a:t>2</a:t>
                      </a:r>
                    </a:p>
                  </a:txBody>
                  <a:tcPr marL="109728" marR="109728" anchor="ctr">
                    <a:solidFill>
                      <a:srgbClr val="FFFFFF"/>
                    </a:solidFill>
                  </a:tcPr>
                </a:tc>
                <a:tc>
                  <a:txBody>
                    <a:bodyPr/>
                    <a:lstStyle/>
                    <a:p>
                      <a:pPr algn="ctr"/>
                      <a:r>
                        <a:rPr sz="1500" b="0">
                          <a:solidFill>
                            <a:srgbClr val="1E2329"/>
                          </a:solidFill>
                          <a:latin typeface="Calibri"/>
                        </a:rPr>
                        <a:t>2</a:t>
                      </a:r>
                    </a:p>
                  </a:txBody>
                  <a:tcPr marL="109728" marR="109728" anchor="ctr">
                    <a:solidFill>
                      <a:srgbClr val="FFFFFF"/>
                    </a:solidFill>
                  </a:tcPr>
                </a:tc>
                <a:tc>
                  <a:txBody>
                    <a:bodyPr/>
                    <a:lstStyle/>
                    <a:p>
                      <a:pPr algn="ctr"/>
                      <a:r>
                        <a:rPr sz="1500" b="0">
                          <a:solidFill>
                            <a:srgbClr val="1E2329"/>
                          </a:solidFill>
                          <a:latin typeface="Calibri"/>
                        </a:rPr>
                        <a:t>0</a:t>
                      </a:r>
                    </a:p>
                  </a:txBody>
                  <a:tcPr marL="109728" marR="109728" anchor="ctr">
                    <a:solidFill>
                      <a:srgbClr val="FFFFFF"/>
                    </a:solidFill>
                  </a:tcPr>
                </a:tc>
              </a:tr>
              <a:tr h="548640">
                <a:tc>
                  <a:txBody>
                    <a:bodyPr/>
                    <a:lstStyle/>
                    <a:p>
                      <a:pPr algn="l"/>
                      <a:r>
                        <a:rPr sz="1500" b="1">
                          <a:solidFill>
                            <a:srgbClr val="1E2329"/>
                          </a:solidFill>
                          <a:latin typeface="Consolas"/>
                        </a:rPr>
                        <a:t>VEN-TRA-01a</a:t>
                      </a:r>
                    </a:p>
                  </a:txBody>
                  <a:tcPr marL="109728" marR="109728" anchor="ctr">
                    <a:solidFill>
                      <a:srgbClr val="FDF1DF"/>
                    </a:solidFill>
                  </a:tcPr>
                </a:tc>
                <a:tc>
                  <a:txBody>
                    <a:bodyPr/>
                    <a:lstStyle/>
                    <a:p>
                      <a:pPr algn="l"/>
                      <a:r>
                        <a:rPr sz="1500" b="1">
                          <a:solidFill>
                            <a:srgbClr val="1E2329"/>
                          </a:solidFill>
                          <a:latin typeface="Calibri"/>
                        </a:rPr>
                        <a:t>Ventas</a:t>
                      </a:r>
                    </a:p>
                  </a:txBody>
                  <a:tcPr marL="109728" marR="109728" anchor="ctr">
                    <a:solidFill>
                      <a:srgbClr val="FDF1DF"/>
                    </a:solidFill>
                  </a:tcPr>
                </a:tc>
                <a:tc>
                  <a:txBody>
                    <a:bodyPr/>
                    <a:lstStyle/>
                    <a:p>
                      <a:pPr algn="ctr"/>
                      <a:r>
                        <a:rPr sz="1500" b="1">
                          <a:solidFill>
                            <a:srgbClr val="1E2329"/>
                          </a:solidFill>
                          <a:latin typeface="Calibri"/>
                        </a:rPr>
                        <a:t>20</a:t>
                      </a:r>
                    </a:p>
                  </a:txBody>
                  <a:tcPr marL="109728" marR="109728" anchor="ctr">
                    <a:solidFill>
                      <a:srgbClr val="FDF1DF"/>
                    </a:solidFill>
                  </a:tcPr>
                </a:tc>
                <a:tc>
                  <a:txBody>
                    <a:bodyPr/>
                    <a:lstStyle/>
                    <a:p>
                      <a:pPr algn="ctr"/>
                      <a:r>
                        <a:rPr sz="1500" b="1">
                          <a:solidFill>
                            <a:srgbClr val="1E2329"/>
                          </a:solidFill>
                          <a:latin typeface="Calibri"/>
                        </a:rPr>
                        <a:t>3</a:t>
                      </a:r>
                    </a:p>
                  </a:txBody>
                  <a:tcPr marL="109728" marR="109728" anchor="ctr">
                    <a:solidFill>
                      <a:srgbClr val="FDF1DF"/>
                    </a:solidFill>
                  </a:tcPr>
                </a:tc>
                <a:tc>
                  <a:txBody>
                    <a:bodyPr/>
                    <a:lstStyle/>
                    <a:p>
                      <a:pPr algn="ctr"/>
                      <a:r>
                        <a:rPr sz="1500" b="1">
                          <a:solidFill>
                            <a:srgbClr val="1E2329"/>
                          </a:solidFill>
                          <a:latin typeface="Calibri"/>
                        </a:rPr>
                        <a:t>1</a:t>
                      </a:r>
                    </a:p>
                  </a:txBody>
                  <a:tcPr marL="109728" marR="109728" anchor="ctr">
                    <a:solidFill>
                      <a:srgbClr val="FDF1DF"/>
                    </a:solidFill>
                  </a:tcPr>
                </a:tc>
              </a:tr>
              <a:tr h="548640">
                <a:tc>
                  <a:txBody>
                    <a:bodyPr/>
                    <a:lstStyle/>
                    <a:p>
                      <a:pPr algn="l"/>
                      <a:r>
                        <a:rPr sz="1500" b="0">
                          <a:solidFill>
                            <a:srgbClr val="1E2329"/>
                          </a:solidFill>
                          <a:latin typeface="Consolas"/>
                        </a:rPr>
                        <a:t>VEN-TRA-01b</a:t>
                      </a:r>
                    </a:p>
                  </a:txBody>
                  <a:tcPr marL="109728" marR="109728" anchor="ctr">
                    <a:solidFill>
                      <a:srgbClr val="FFFFFF"/>
                    </a:solidFill>
                  </a:tcPr>
                </a:tc>
                <a:tc>
                  <a:txBody>
                    <a:bodyPr/>
                    <a:lstStyle/>
                    <a:p>
                      <a:pPr algn="l"/>
                      <a:r>
                        <a:rPr sz="1500" b="0">
                          <a:solidFill>
                            <a:srgbClr val="1E2329"/>
                          </a:solidFill>
                          <a:latin typeface="Calibri"/>
                        </a:rPr>
                        <a:t>Ventas</a:t>
                      </a:r>
                    </a:p>
                  </a:txBody>
                  <a:tcPr marL="109728" marR="109728" anchor="ctr">
                    <a:solidFill>
                      <a:srgbClr val="FFFFFF"/>
                    </a:solidFill>
                  </a:tcPr>
                </a:tc>
                <a:tc>
                  <a:txBody>
                    <a:bodyPr/>
                    <a:lstStyle/>
                    <a:p>
                      <a:pPr algn="ctr"/>
                      <a:r>
                        <a:rPr sz="1500" b="0">
                          <a:solidFill>
                            <a:srgbClr val="1E2329"/>
                          </a:solidFill>
                          <a:latin typeface="Calibri"/>
                        </a:rPr>
                        <a:t>10</a:t>
                      </a:r>
                    </a:p>
                  </a:txBody>
                  <a:tcPr marL="109728" marR="109728" anchor="ctr">
                    <a:solidFill>
                      <a:srgbClr val="FFFFFF"/>
                    </a:solidFill>
                  </a:tcPr>
                </a:tc>
                <a:tc>
                  <a:txBody>
                    <a:bodyPr/>
                    <a:lstStyle/>
                    <a:p>
                      <a:pPr algn="ctr"/>
                      <a:r>
                        <a:rPr sz="1500" b="0">
                          <a:solidFill>
                            <a:srgbClr val="1E2329"/>
                          </a:solidFill>
                          <a:latin typeface="Calibri"/>
                        </a:rPr>
                        <a:t>1</a:t>
                      </a:r>
                    </a:p>
                  </a:txBody>
                  <a:tcPr marL="109728" marR="109728" anchor="ctr">
                    <a:solidFill>
                      <a:srgbClr val="FFFFFF"/>
                    </a:solidFill>
                  </a:tcPr>
                </a:tc>
                <a:tc>
                  <a:txBody>
                    <a:bodyPr/>
                    <a:lstStyle/>
                    <a:p>
                      <a:pPr algn="ctr"/>
                      <a:r>
                        <a:rPr sz="1500" b="0">
                          <a:solidFill>
                            <a:srgbClr val="1E2329"/>
                          </a:solidFill>
                          <a:latin typeface="Calibri"/>
                        </a:rPr>
                        <a:t>0</a:t>
                      </a:r>
                    </a:p>
                  </a:txBody>
                  <a:tcPr marL="109728" marR="109728" anchor="ctr">
                    <a:solidFill>
                      <a:srgbClr val="FFFFFF"/>
                    </a:solidFill>
                  </a:tcPr>
                </a:tc>
              </a:tr>
              <a:tr h="548640">
                <a:tc>
                  <a:txBody>
                    <a:bodyPr/>
                    <a:lstStyle/>
                    <a:p>
                      <a:pPr algn="l"/>
                      <a:r>
                        <a:rPr sz="1500" b="0">
                          <a:solidFill>
                            <a:srgbClr val="1E2329"/>
                          </a:solidFill>
                          <a:latin typeface="Consolas"/>
                        </a:rPr>
                        <a:t>GEN-PER-02</a:t>
                      </a:r>
                    </a:p>
                  </a:txBody>
                  <a:tcPr marL="109728" marR="109728" anchor="ctr">
                    <a:solidFill>
                      <a:srgbClr val="EEF2F4"/>
                    </a:solidFill>
                  </a:tcPr>
                </a:tc>
                <a:tc>
                  <a:txBody>
                    <a:bodyPr/>
                    <a:lstStyle/>
                    <a:p>
                      <a:pPr algn="l"/>
                      <a:r>
                        <a:rPr sz="1500" b="0">
                          <a:solidFill>
                            <a:srgbClr val="1E2329"/>
                          </a:solidFill>
                          <a:latin typeface="Calibri"/>
                        </a:rPr>
                        <a:t>General</a:t>
                      </a:r>
                    </a:p>
                  </a:txBody>
                  <a:tcPr marL="109728" marR="109728" anchor="ctr">
                    <a:solidFill>
                      <a:srgbClr val="EEF2F4"/>
                    </a:solidFill>
                  </a:tcPr>
                </a:tc>
                <a:tc>
                  <a:txBody>
                    <a:bodyPr/>
                    <a:lstStyle/>
                    <a:p>
                      <a:pPr algn="ctr"/>
                      <a:r>
                        <a:rPr sz="1500" b="0">
                          <a:solidFill>
                            <a:srgbClr val="1E2329"/>
                          </a:solidFill>
                          <a:latin typeface="Calibri"/>
                        </a:rPr>
                        <a:t>5</a:t>
                      </a:r>
                    </a:p>
                  </a:txBody>
                  <a:tcPr marL="109728" marR="109728" anchor="ctr">
                    <a:solidFill>
                      <a:srgbClr val="EEF2F4"/>
                    </a:solidFill>
                  </a:tcPr>
                </a:tc>
                <a:tc>
                  <a:txBody>
                    <a:bodyPr/>
                    <a:lstStyle/>
                    <a:p>
                      <a:pPr algn="ctr"/>
                      <a:r>
                        <a:rPr sz="1500" b="0">
                          <a:solidFill>
                            <a:srgbClr val="1E2329"/>
                          </a:solidFill>
                          <a:latin typeface="Calibri"/>
                        </a:rPr>
                        <a:t>6</a:t>
                      </a:r>
                    </a:p>
                  </a:txBody>
                  <a:tcPr marL="109728" marR="109728" anchor="ctr">
                    <a:solidFill>
                      <a:srgbClr val="EEF2F4"/>
                    </a:solidFill>
                  </a:tcPr>
                </a:tc>
                <a:tc>
                  <a:txBody>
                    <a:bodyPr/>
                    <a:lstStyle/>
                    <a:p>
                      <a:pPr algn="ctr"/>
                      <a:r>
                        <a:rPr sz="1500" b="0">
                          <a:solidFill>
                            <a:srgbClr val="1E2329"/>
                          </a:solidFill>
                          <a:latin typeface="Calibri"/>
                        </a:rPr>
                        <a:t>0</a:t>
                      </a:r>
                    </a:p>
                  </a:txBody>
                  <a:tcPr marL="109728" marR="109728" anchor="ctr">
                    <a:solidFill>
                      <a:srgbClr val="EEF2F4"/>
                    </a:solidFill>
                  </a:tcPr>
                </a:tc>
              </a:tr>
            </a:tbl>
          </a:graphicData>
        </a:graphic>
      </p:graphicFrame>
      <p:sp>
        <p:nvSpPr>
          <p:cNvPr id="5" name="TextBox 4"/>
          <p:cNvSpPr txBox="1"/>
          <p:nvPr/>
        </p:nvSpPr>
        <p:spPr>
          <a:xfrm>
            <a:off x="548640" y="5212080"/>
            <a:ext cx="6949440" cy="822960"/>
          </a:xfrm>
          <a:prstGeom prst="rect">
            <a:avLst/>
          </a:prstGeom>
          <a:noFill/>
        </p:spPr>
        <p:txBody>
          <a:bodyPr wrap="square" anchor="t" lIns="0" rIns="0" tIns="0" bIns="0">
            <a:spAutoFit/>
          </a:bodyPr>
          <a:lstStyle/>
          <a:p>
            <a:pPr algn="l"/>
            <a:r>
              <a:rPr sz="1400" b="0" i="0">
                <a:solidFill>
                  <a:srgbClr val="5B6670"/>
                </a:solidFill>
                <a:latin typeface="Calibri"/>
              </a:rPr>
              <a:t>VEN-TRA-01a («3 días laborables») quedaba fuera del top 4: el procedimiento lo añade porque su hermano 01b ya se había recuperado</a:t>
            </a:r>
          </a:p>
        </p:txBody>
      </p:sp>
      <p:sp>
        <p:nvSpPr>
          <p:cNvPr id="6" name="TextBox 5"/>
          <p:cNvSpPr txBox="1"/>
          <p:nvPr/>
        </p:nvSpPr>
        <p:spPr>
          <a:xfrm>
            <a:off x="7863840" y="1783080"/>
            <a:ext cx="3776472" cy="4206240"/>
          </a:xfrm>
          <a:prstGeom prst="rect">
            <a:avLst/>
          </a:prstGeom>
          <a:noFill/>
        </p:spPr>
        <p:txBody>
          <a:bodyPr wrap="square" anchor="t" lIns="0" rIns="0" tIns="0" bIns="0">
            <a:spAutoFit/>
          </a:bodyPr>
          <a:lstStyle/>
          <a:p>
            <a:pPr algn="l" marL="228600" indent="-228600">
              <a:spcAft>
                <a:spcPts val="1000"/>
              </a:spcAft>
              <a:buClr>
                <a:srgbClr val="0E9F8E"/>
              </a:buClr>
              <a:buFont typeface="Arial"/>
              <a:buChar char="•"/>
            </a:pPr>
            <a:r>
              <a:rPr sz="1500" b="1" i="0">
                <a:solidFill>
                  <a:srgbClr val="1E2329"/>
                </a:solidFill>
                <a:latin typeface="Calibri"/>
              </a:rPr>
              <a:t>Problema: </a:t>
            </a:r>
            <a:r>
              <a:rPr sz="1500" b="0" i="0">
                <a:solidFill>
                  <a:srgbClr val="1E2329"/>
                </a:solidFill>
                <a:latin typeface="Calibri"/>
              </a:rPr>
              <a:t>al dividir en a/b, el top N podía traer solo media normativa</a:t>
            </a:r>
          </a:p>
          <a:p>
            <a:pPr algn="l" marL="228600" indent="-228600">
              <a:spcAft>
                <a:spcPts val="1000"/>
              </a:spcAft>
              <a:buClr>
                <a:srgbClr val="0E9F8E"/>
              </a:buClr>
              <a:buFont typeface="Arial"/>
              <a:buChar char="•"/>
            </a:pPr>
            <a:r>
              <a:rPr sz="1500" b="1" i="0">
                <a:solidFill>
                  <a:srgbClr val="1E2329"/>
                </a:solidFill>
                <a:latin typeface="Calibri"/>
              </a:rPr>
              <a:t>Solución: </a:t>
            </a:r>
            <a:r>
              <a:rPr sz="1500" b="0" i="0">
                <a:solidFill>
                  <a:srgbClr val="1E2329"/>
                </a:solidFill>
                <a:latin typeface="Calibri"/>
              </a:rPr>
              <a:t>tras elegir los N mejores fragmentos, se añade el hermano de cada normativa recuperada</a:t>
            </a:r>
          </a:p>
          <a:p>
            <a:pPr algn="l" marL="228600" indent="-228600">
              <a:spcAft>
                <a:spcPts val="1000"/>
              </a:spcAft>
              <a:buClr>
                <a:srgbClr val="0E9F8E"/>
              </a:buClr>
              <a:buFont typeface="Arial"/>
              <a:buChar char="•"/>
            </a:pPr>
            <a:r>
              <a:rPr sz="1500" b="1" i="0">
                <a:solidFill>
                  <a:srgbClr val="1E2329"/>
                </a:solidFill>
                <a:latin typeface="Calibri"/>
              </a:rPr>
              <a:t>Patrón: </a:t>
            </a:r>
            <a:r>
              <a:rPr sz="1500" b="0" i="0">
                <a:solidFill>
                  <a:srgbClr val="1E2329"/>
                </a:solidFill>
                <a:latin typeface="Calibri"/>
              </a:rPr>
              <a:t>small-to-big (parent document retrieval)</a:t>
            </a:r>
          </a:p>
          <a:p>
            <a:pPr algn="l" marL="228600" indent="-228600">
              <a:spcAft>
                <a:spcPts val="1000"/>
              </a:spcAft>
              <a:buClr>
                <a:srgbClr val="0E9F8E"/>
              </a:buClr>
              <a:buFont typeface="Arial"/>
              <a:buChar char="•"/>
            </a:pPr>
            <a:r>
              <a:rPr sz="1500" b="1" i="0">
                <a:solidFill>
                  <a:srgbClr val="1E2329"/>
                </a:solidFill>
                <a:latin typeface="Calibri"/>
              </a:rPr>
              <a:t>Seguro: </a:t>
            </a:r>
            <a:r>
              <a:rPr sz="1500" b="0" i="0">
                <a:solidFill>
                  <a:srgbClr val="1E2329"/>
                </a:solidFill>
                <a:latin typeface="Calibri"/>
              </a:rPr>
              <a:t>el hermano es del mismo departamento y pasa por el mismo RLS</a:t>
            </a:r>
          </a:p>
        </p:txBody>
      </p:sp>
      <p:sp>
        <p:nvSpPr>
          <p:cNvPr id="7" name="TextBox 6"/>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329"/>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FFFFFF"/>
                </a:solidFill>
                <a:latin typeface="Calibri"/>
              </a:rPr>
              <a:t>Demo · La respuesta depende de quién pregunta</a:t>
            </a:r>
          </a:p>
        </p:txBody>
      </p:sp>
      <p:sp>
        <p:nvSpPr>
          <p:cNvPr id="3" name="TextBox 2"/>
          <p:cNvSpPr txBox="1"/>
          <p:nvPr/>
        </p:nvSpPr>
        <p:spPr>
          <a:xfrm>
            <a:off x="548640" y="1463040"/>
            <a:ext cx="2743200" cy="411480"/>
          </a:xfrm>
          <a:prstGeom prst="rect">
            <a:avLst/>
          </a:prstGeom>
          <a:noFill/>
        </p:spPr>
        <p:txBody>
          <a:bodyPr wrap="square" anchor="t" lIns="0" rIns="0" tIns="0" bIns="0">
            <a:spAutoFit/>
          </a:bodyPr>
          <a:lstStyle/>
          <a:p>
            <a:pPr algn="l"/>
            <a:r>
              <a:rPr sz="2000" b="1" i="0">
                <a:solidFill>
                  <a:srgbClr val="0E9F8E"/>
                </a:solidFill>
                <a:latin typeface="Calibri"/>
              </a:rPr>
              <a:t>Como ana_rrhh</a:t>
            </a:r>
          </a:p>
        </p:txBody>
      </p:sp>
      <p:sp>
        <p:nvSpPr>
          <p:cNvPr id="4" name="TextBox 3"/>
          <p:cNvSpPr txBox="1"/>
          <p:nvPr/>
        </p:nvSpPr>
        <p:spPr>
          <a:xfrm>
            <a:off x="548640" y="1965960"/>
            <a:ext cx="2651760" cy="1828800"/>
          </a:xfrm>
          <a:prstGeom prst="rect">
            <a:avLst/>
          </a:prstGeom>
          <a:noFill/>
        </p:spPr>
        <p:txBody>
          <a:bodyPr wrap="square" anchor="t" lIns="0" rIns="0" tIns="0" bIns="0">
            <a:spAutoFit/>
          </a:bodyPr>
          <a:lstStyle/>
          <a:p>
            <a:pPr algn="l"/>
            <a:r>
              <a:rPr sz="1500" b="0" i="1">
                <a:solidFill>
                  <a:srgbClr val="FFFFFF"/>
                </a:solidFill>
                <a:latin typeface="Calibri"/>
              </a:rPr>
              <a:t>«¿Qué días de permiso me corresponden por mudanza según las políticas de mi departamento?»</a:t>
            </a:r>
          </a:p>
        </p:txBody>
      </p:sp>
      <p:sp>
        <p:nvSpPr>
          <p:cNvPr id="5" name="TextBox 4"/>
          <p:cNvSpPr txBox="1"/>
          <p:nvPr/>
        </p:nvSpPr>
        <p:spPr>
          <a:xfrm>
            <a:off x="548640" y="3931920"/>
            <a:ext cx="2651760" cy="1828800"/>
          </a:xfrm>
          <a:prstGeom prst="rect">
            <a:avLst/>
          </a:prstGeom>
          <a:noFill/>
        </p:spPr>
        <p:txBody>
          <a:bodyPr wrap="square" anchor="t" lIns="0" rIns="0" tIns="0" bIns="0">
            <a:spAutoFit/>
          </a:bodyPr>
          <a:lstStyle/>
          <a:p>
            <a:pPr algn="l"/>
            <a:r>
              <a:rPr sz="1400" b="0" i="0">
                <a:solidFill>
                  <a:srgbClr val="B8C2CC"/>
                </a:solidFill>
                <a:latin typeface="Calibri"/>
              </a:rPr>
              <a:t>1 día laborable (GEN-PER-01). Ana no ve la norma de traslado de Ventas</a:t>
            </a:r>
          </a:p>
        </p:txBody>
      </p:sp>
      <p:pic>
        <p:nvPicPr>
          <p:cNvPr id="6" name="Picture 5" descr="respuesta_permiso_mudanza_ana_rrhh.png"/>
          <p:cNvPicPr>
            <a:picLocks noChangeAspect="1"/>
          </p:cNvPicPr>
          <p:nvPr/>
        </p:nvPicPr>
        <p:blipFill>
          <a:blip r:embed="rId2"/>
          <a:stretch>
            <a:fillRect/>
          </a:stretch>
        </p:blipFill>
        <p:spPr>
          <a:xfrm>
            <a:off x="3383280" y="1417320"/>
            <a:ext cx="2394691" cy="4617720"/>
          </a:xfrm>
          <a:prstGeom prst="rect">
            <a:avLst/>
          </a:prstGeom>
          <a:ln w="12700">
            <a:solidFill>
              <a:srgbClr val="2B323A"/>
            </a:solidFill>
          </a:ln>
        </p:spPr>
      </p:pic>
      <p:sp>
        <p:nvSpPr>
          <p:cNvPr id="7" name="TextBox 6"/>
          <p:cNvSpPr txBox="1"/>
          <p:nvPr/>
        </p:nvSpPr>
        <p:spPr>
          <a:xfrm>
            <a:off x="6263640" y="1463040"/>
            <a:ext cx="2743200" cy="411480"/>
          </a:xfrm>
          <a:prstGeom prst="rect">
            <a:avLst/>
          </a:prstGeom>
          <a:noFill/>
        </p:spPr>
        <p:txBody>
          <a:bodyPr wrap="square" anchor="t" lIns="0" rIns="0" tIns="0" bIns="0">
            <a:spAutoFit/>
          </a:bodyPr>
          <a:lstStyle/>
          <a:p>
            <a:pPr algn="l"/>
            <a:r>
              <a:rPr sz="2000" b="1" i="0">
                <a:solidFill>
                  <a:srgbClr val="0E9F8E"/>
                </a:solidFill>
                <a:latin typeface="Calibri"/>
              </a:rPr>
              <a:t>Como lucia_it</a:t>
            </a:r>
          </a:p>
        </p:txBody>
      </p:sp>
      <p:sp>
        <p:nvSpPr>
          <p:cNvPr id="8" name="TextBox 7"/>
          <p:cNvSpPr txBox="1"/>
          <p:nvPr/>
        </p:nvSpPr>
        <p:spPr>
          <a:xfrm>
            <a:off x="6263640" y="1965960"/>
            <a:ext cx="2651760" cy="1828800"/>
          </a:xfrm>
          <a:prstGeom prst="rect">
            <a:avLst/>
          </a:prstGeom>
          <a:noFill/>
        </p:spPr>
        <p:txBody>
          <a:bodyPr wrap="square" anchor="t" lIns="0" rIns="0" tIns="0" bIns="0">
            <a:spAutoFit/>
          </a:bodyPr>
          <a:lstStyle/>
          <a:p>
            <a:pPr algn="l"/>
            <a:r>
              <a:rPr sz="1500" b="0" i="1">
                <a:solidFill>
                  <a:srgbClr val="FFFFFF"/>
                </a:solidFill>
                <a:latin typeface="Calibri"/>
              </a:rPr>
              <a:t>«¿Cuántos días a la semana puedo teletrabajar?»</a:t>
            </a:r>
          </a:p>
        </p:txBody>
      </p:sp>
      <p:sp>
        <p:nvSpPr>
          <p:cNvPr id="9" name="TextBox 8"/>
          <p:cNvSpPr txBox="1"/>
          <p:nvPr/>
        </p:nvSpPr>
        <p:spPr>
          <a:xfrm>
            <a:off x="6263640" y="3931920"/>
            <a:ext cx="2651760" cy="1828800"/>
          </a:xfrm>
          <a:prstGeom prst="rect">
            <a:avLst/>
          </a:prstGeom>
          <a:noFill/>
        </p:spPr>
        <p:txBody>
          <a:bodyPr wrap="square" anchor="t" lIns="0" rIns="0" tIns="0" bIns="0">
            <a:spAutoFit/>
          </a:bodyPr>
          <a:lstStyle/>
          <a:p>
            <a:pPr algn="l"/>
            <a:r>
              <a:rPr sz="1400" b="0" i="0">
                <a:solidFill>
                  <a:srgbClr val="B8C2CC"/>
                </a:solidFill>
                <a:latin typeface="Calibri"/>
              </a:rPr>
              <a:t>3 días según la política de Tecnología (IT-TEL-01), no los 2 de la política general</a:t>
            </a:r>
          </a:p>
        </p:txBody>
      </p:sp>
      <p:pic>
        <p:nvPicPr>
          <p:cNvPr id="10" name="Picture 9" descr="respuesta_teletrabajo_lucia_it.png"/>
          <p:cNvPicPr>
            <a:picLocks noChangeAspect="1"/>
          </p:cNvPicPr>
          <p:nvPr/>
        </p:nvPicPr>
        <p:blipFill>
          <a:blip r:embed="rId3"/>
          <a:stretch>
            <a:fillRect/>
          </a:stretch>
        </p:blipFill>
        <p:spPr>
          <a:xfrm>
            <a:off x="9098280" y="1417320"/>
            <a:ext cx="2573658" cy="4617720"/>
          </a:xfrm>
          <a:prstGeom prst="rect">
            <a:avLst/>
          </a:prstGeom>
          <a:ln w="12700">
            <a:solidFill>
              <a:srgbClr val="2B323A"/>
            </a:solidFill>
          </a:ln>
        </p:spPr>
      </p:pic>
      <p:sp>
        <p:nvSpPr>
          <p:cNvPr id="11" name="TextBox 10"/>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B8C2CC"/>
                </a:solidFill>
                <a:latin typeface="Calibri"/>
              </a:rPr>
              <a:t>NormativaRAG · DP-800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329"/>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FFFFFF"/>
                </a:solidFill>
                <a:latin typeface="Calibri"/>
              </a:rPr>
              <a:t>Demo · Lo que no se puede ver no llega al LLM</a:t>
            </a:r>
          </a:p>
        </p:txBody>
      </p:sp>
      <p:sp>
        <p:nvSpPr>
          <p:cNvPr id="3" name="Rounded Rectangle 2"/>
          <p:cNvSpPr/>
          <p:nvPr/>
        </p:nvSpPr>
        <p:spPr>
          <a:xfrm>
            <a:off x="548640" y="1417320"/>
            <a:ext cx="3520440" cy="3840480"/>
          </a:xfrm>
          <a:prstGeom prst="roundRect">
            <a:avLst>
              <a:gd name="adj" fmla="val 5000"/>
            </a:avLst>
          </a:prstGeom>
          <a:solidFill>
            <a:srgbClr val="2B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600200"/>
            <a:ext cx="3063240" cy="411480"/>
          </a:xfrm>
          <a:prstGeom prst="rect">
            <a:avLst/>
          </a:prstGeom>
          <a:noFill/>
        </p:spPr>
        <p:txBody>
          <a:bodyPr wrap="square" anchor="t" lIns="0" rIns="0" tIns="0" bIns="0">
            <a:spAutoFit/>
          </a:bodyPr>
          <a:lstStyle/>
          <a:p>
            <a:pPr algn="l"/>
            <a:r>
              <a:rPr sz="1900" b="1" i="0">
                <a:solidFill>
                  <a:srgbClr val="E89A22"/>
                </a:solidFill>
                <a:latin typeface="Calibri"/>
              </a:rPr>
              <a:t>Información confidencial</a:t>
            </a:r>
          </a:p>
        </p:txBody>
      </p:sp>
      <p:sp>
        <p:nvSpPr>
          <p:cNvPr id="5" name="TextBox 4"/>
          <p:cNvSpPr txBox="1"/>
          <p:nvPr/>
        </p:nvSpPr>
        <p:spPr>
          <a:xfrm>
            <a:off x="777240" y="2057400"/>
            <a:ext cx="3063240" cy="1005840"/>
          </a:xfrm>
          <a:prstGeom prst="rect">
            <a:avLst/>
          </a:prstGeom>
          <a:noFill/>
        </p:spPr>
        <p:txBody>
          <a:bodyPr wrap="square" anchor="t" lIns="0" rIns="0" tIns="0" bIns="0">
            <a:spAutoFit/>
          </a:bodyPr>
          <a:lstStyle/>
          <a:p>
            <a:pPr algn="l"/>
            <a:r>
              <a:rPr sz="1400" b="0" i="0">
                <a:solidFill>
                  <a:srgbClr val="B8C2CC"/>
                </a:solidFill>
                <a:latin typeface="Calibri"/>
              </a:rPr>
              <a:t>lucia_it pregunta por la retribución variable de los directivos</a:t>
            </a:r>
          </a:p>
        </p:txBody>
      </p:sp>
      <p:pic>
        <p:nvPicPr>
          <p:cNvPr id="6" name="Picture 5" descr="acceso_retribucion_directivos_denegado_lucia_it.png"/>
          <p:cNvPicPr>
            <a:picLocks noChangeAspect="1"/>
          </p:cNvPicPr>
          <p:nvPr/>
        </p:nvPicPr>
        <p:blipFill>
          <a:blip r:embed="rId2"/>
          <a:stretch>
            <a:fillRect/>
          </a:stretch>
        </p:blipFill>
        <p:spPr>
          <a:xfrm>
            <a:off x="777240" y="3154680"/>
            <a:ext cx="3063240" cy="1185049"/>
          </a:xfrm>
          <a:prstGeom prst="rect">
            <a:avLst/>
          </a:prstGeom>
          <a:ln w="12700">
            <a:solidFill>
              <a:srgbClr val="2B323A"/>
            </a:solidFill>
          </a:ln>
        </p:spPr>
      </p:pic>
      <p:sp>
        <p:nvSpPr>
          <p:cNvPr id="7" name="Rounded Rectangle 6"/>
          <p:cNvSpPr/>
          <p:nvPr/>
        </p:nvSpPr>
        <p:spPr>
          <a:xfrm>
            <a:off x="4306824" y="1417320"/>
            <a:ext cx="3520440" cy="3840480"/>
          </a:xfrm>
          <a:prstGeom prst="roundRect">
            <a:avLst>
              <a:gd name="adj" fmla="val 5000"/>
            </a:avLst>
          </a:prstGeom>
          <a:solidFill>
            <a:srgbClr val="2B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35424" y="1600200"/>
            <a:ext cx="3063240" cy="411480"/>
          </a:xfrm>
          <a:prstGeom prst="rect">
            <a:avLst/>
          </a:prstGeom>
          <a:noFill/>
        </p:spPr>
        <p:txBody>
          <a:bodyPr wrap="square" anchor="t" lIns="0" rIns="0" tIns="0" bIns="0">
            <a:spAutoFit/>
          </a:bodyPr>
          <a:lstStyle/>
          <a:p>
            <a:pPr algn="l"/>
            <a:r>
              <a:rPr sz="1900" b="1" i="0">
                <a:solidFill>
                  <a:srgbClr val="0E9F8E"/>
                </a:solidFill>
                <a:latin typeface="Calibri"/>
              </a:rPr>
              <a:t>Usuario sin rol</a:t>
            </a:r>
          </a:p>
        </p:txBody>
      </p:sp>
      <p:sp>
        <p:nvSpPr>
          <p:cNvPr id="9" name="TextBox 8"/>
          <p:cNvSpPr txBox="1"/>
          <p:nvPr/>
        </p:nvSpPr>
        <p:spPr>
          <a:xfrm>
            <a:off x="4535424" y="2057400"/>
            <a:ext cx="3063240" cy="1005840"/>
          </a:xfrm>
          <a:prstGeom prst="rect">
            <a:avLst/>
          </a:prstGeom>
          <a:noFill/>
        </p:spPr>
        <p:txBody>
          <a:bodyPr wrap="square" anchor="t" lIns="0" rIns="0" tIns="0" bIns="0">
            <a:spAutoFit/>
          </a:bodyPr>
          <a:lstStyle/>
          <a:p>
            <a:pPr algn="l"/>
            <a:r>
              <a:rPr sz="1400" b="0" i="0">
                <a:solidFill>
                  <a:srgbClr val="B8C2CC"/>
                </a:solidFill>
                <a:latin typeface="Calibri"/>
              </a:rPr>
              <a:t>invitado_externo tiene EXECUTE sobre el procedimiento, pero ningún rol</a:t>
            </a:r>
          </a:p>
        </p:txBody>
      </p:sp>
      <p:pic>
        <p:nvPicPr>
          <p:cNvPr id="10" name="Picture 9" descr="vacaciones_invitado_externo_sin_resultados.png"/>
          <p:cNvPicPr>
            <a:picLocks noChangeAspect="1"/>
          </p:cNvPicPr>
          <p:nvPr/>
        </p:nvPicPr>
        <p:blipFill>
          <a:blip r:embed="rId3"/>
          <a:stretch>
            <a:fillRect/>
          </a:stretch>
        </p:blipFill>
        <p:spPr>
          <a:xfrm>
            <a:off x="4535424" y="3154680"/>
            <a:ext cx="3063240" cy="1819858"/>
          </a:xfrm>
          <a:prstGeom prst="rect">
            <a:avLst/>
          </a:prstGeom>
          <a:ln w="12700">
            <a:solidFill>
              <a:srgbClr val="2B323A"/>
            </a:solidFill>
          </a:ln>
        </p:spPr>
      </p:pic>
      <p:sp>
        <p:nvSpPr>
          <p:cNvPr id="11" name="Rounded Rectangle 10"/>
          <p:cNvSpPr/>
          <p:nvPr/>
        </p:nvSpPr>
        <p:spPr>
          <a:xfrm>
            <a:off x="8065008" y="1417320"/>
            <a:ext cx="3520440" cy="3840480"/>
          </a:xfrm>
          <a:prstGeom prst="roundRect">
            <a:avLst>
              <a:gd name="adj" fmla="val 5000"/>
            </a:avLst>
          </a:prstGeom>
          <a:solidFill>
            <a:srgbClr val="2B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93608" y="1600200"/>
            <a:ext cx="3063240" cy="411480"/>
          </a:xfrm>
          <a:prstGeom prst="rect">
            <a:avLst/>
          </a:prstGeom>
          <a:noFill/>
        </p:spPr>
        <p:txBody>
          <a:bodyPr wrap="square" anchor="t" lIns="0" rIns="0" tIns="0" bIns="0">
            <a:spAutoFit/>
          </a:bodyPr>
          <a:lstStyle/>
          <a:p>
            <a:pPr algn="l"/>
            <a:r>
              <a:rPr sz="1900" b="1" i="0">
                <a:solidFill>
                  <a:srgbClr val="0E9F8E"/>
                </a:solidFill>
                <a:latin typeface="Calibri"/>
              </a:rPr>
              <a:t>Administrador</a:t>
            </a:r>
          </a:p>
        </p:txBody>
      </p:sp>
      <p:sp>
        <p:nvSpPr>
          <p:cNvPr id="13" name="TextBox 12"/>
          <p:cNvSpPr txBox="1"/>
          <p:nvPr/>
        </p:nvSpPr>
        <p:spPr>
          <a:xfrm>
            <a:off x="8293608" y="2057400"/>
            <a:ext cx="3063240" cy="1005840"/>
          </a:xfrm>
          <a:prstGeom prst="rect">
            <a:avLst/>
          </a:prstGeom>
          <a:noFill/>
        </p:spPr>
        <p:txBody>
          <a:bodyPr wrap="square" anchor="t" lIns="0" rIns="0" tIns="0" bIns="0">
            <a:spAutoFit/>
          </a:bodyPr>
          <a:lstStyle/>
          <a:p>
            <a:pPr algn="l"/>
            <a:r>
              <a:rPr sz="1400" b="0" i="0">
                <a:solidFill>
                  <a:srgbClr val="B8C2CC"/>
                </a:solidFill>
                <a:latin typeface="Calibri"/>
              </a:rPr>
              <a:t>Sin EXECUTE AS, la conexión de Windows entra como dbo</a:t>
            </a:r>
          </a:p>
        </p:txBody>
      </p:sp>
      <p:pic>
        <p:nvPicPr>
          <p:cNvPr id="14" name="Picture 13" descr="consulta_rls_sin_execute_as_sin_resultados.png"/>
          <p:cNvPicPr>
            <a:picLocks noChangeAspect="1"/>
          </p:cNvPicPr>
          <p:nvPr/>
        </p:nvPicPr>
        <p:blipFill>
          <a:blip r:embed="rId4"/>
          <a:stretch>
            <a:fillRect/>
          </a:stretch>
        </p:blipFill>
        <p:spPr>
          <a:xfrm>
            <a:off x="8293608" y="3154680"/>
            <a:ext cx="3063240" cy="1542406"/>
          </a:xfrm>
          <a:prstGeom prst="rect">
            <a:avLst/>
          </a:prstGeom>
          <a:ln w="12700">
            <a:solidFill>
              <a:srgbClr val="2B323A"/>
            </a:solidFill>
          </a:ln>
        </p:spPr>
      </p:pic>
      <p:sp>
        <p:nvSpPr>
          <p:cNvPr id="15" name="TextBox 14"/>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B8C2CC"/>
                </a:solidFill>
                <a:latin typeface="Calibri"/>
              </a:rPr>
              <a:t>NormativaRAG · DP-800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1E2329"/>
                </a:solidFill>
                <a:latin typeface="Calibri"/>
              </a:rPr>
              <a:t>Preview, limitaciones y próximos pasos</a:t>
            </a:r>
          </a:p>
        </p:txBody>
      </p:sp>
      <p:sp>
        <p:nvSpPr>
          <p:cNvPr id="3" name="Rounded Rectangle 2"/>
          <p:cNvSpPr/>
          <p:nvPr/>
        </p:nvSpPr>
        <p:spPr>
          <a:xfrm>
            <a:off x="548640" y="1417320"/>
            <a:ext cx="3520440" cy="3749039"/>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691640"/>
            <a:ext cx="502920" cy="502920"/>
          </a:xfrm>
          <a:prstGeom prst="ellipse">
            <a:avLst/>
          </a:prstGeom>
          <a:solidFill>
            <a:srgbClr val="E89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5" name="TextBox 4"/>
          <p:cNvSpPr txBox="1"/>
          <p:nvPr/>
        </p:nvSpPr>
        <p:spPr>
          <a:xfrm>
            <a:off x="1463040" y="1691640"/>
            <a:ext cx="2468880" cy="502920"/>
          </a:xfrm>
          <a:prstGeom prst="rect">
            <a:avLst/>
          </a:prstGeom>
          <a:noFill/>
        </p:spPr>
        <p:txBody>
          <a:bodyPr wrap="square" anchor="ctr" lIns="0" rIns="0" tIns="0" bIns="0">
            <a:spAutoFit/>
          </a:bodyPr>
          <a:lstStyle/>
          <a:p>
            <a:pPr algn="l"/>
            <a:r>
              <a:rPr sz="2000" b="1" i="0">
                <a:solidFill>
                  <a:srgbClr val="1E2329"/>
                </a:solidFill>
                <a:latin typeface="Calibri"/>
              </a:rPr>
              <a:t>En preview</a:t>
            </a:r>
          </a:p>
        </p:txBody>
      </p:sp>
      <p:sp>
        <p:nvSpPr>
          <p:cNvPr id="6" name="TextBox 5"/>
          <p:cNvSpPr txBox="1"/>
          <p:nvPr/>
        </p:nvSpPr>
        <p:spPr>
          <a:xfrm>
            <a:off x="822959" y="2468880"/>
            <a:ext cx="3017520" cy="3474720"/>
          </a:xfrm>
          <a:prstGeom prst="rect">
            <a:avLst/>
          </a:prstGeom>
          <a:noFill/>
        </p:spPr>
        <p:txBody>
          <a:bodyPr wrap="square" anchor="t" lIns="0" rIns="0" tIns="0" bIns="0">
            <a:spAutoFit/>
          </a:bodyPr>
          <a:lstStyle/>
          <a:p>
            <a:pPr algn="l" marL="228600" indent="-228600">
              <a:spcAft>
                <a:spcPts val="1200"/>
              </a:spcAft>
              <a:buClr>
                <a:srgbClr val="E89A22"/>
              </a:buClr>
              <a:buFont typeface="Arial"/>
              <a:buChar char="•"/>
            </a:pPr>
            <a:r>
              <a:rPr sz="1500" b="0" i="0">
                <a:solidFill>
                  <a:srgbClr val="1E2329"/>
                </a:solidFill>
                <a:latin typeface="Calibri"/>
              </a:rPr>
              <a:t>Runtime ONNX local de CREATE EXTERNAL MODEL (PREVIEW_FEATURES)</a:t>
            </a:r>
          </a:p>
          <a:p>
            <a:pPr algn="l" marL="228600" indent="-228600">
              <a:spcAft>
                <a:spcPts val="1200"/>
              </a:spcAft>
              <a:buClr>
                <a:srgbClr val="E89A22"/>
              </a:buClr>
              <a:buFont typeface="Arial"/>
              <a:buChar char="•"/>
            </a:pPr>
            <a:r>
              <a:rPr sz="1500" b="0" i="0">
                <a:solidFill>
                  <a:srgbClr val="1E2329"/>
                </a:solidFill>
                <a:latin typeface="Calibri"/>
              </a:rPr>
              <a:t>Solo Windows y con Machine Learning Services</a:t>
            </a:r>
          </a:p>
          <a:p>
            <a:pPr algn="l" marL="228600" indent="-228600">
              <a:spcAft>
                <a:spcPts val="1200"/>
              </a:spcAft>
              <a:buClr>
                <a:srgbClr val="E89A22"/>
              </a:buClr>
              <a:buFont typeface="Arial"/>
              <a:buChar char="•"/>
            </a:pPr>
            <a:r>
              <a:rPr sz="1500" b="0" i="0">
                <a:solidFill>
                  <a:srgbClr val="1E2329"/>
                </a:solidFill>
                <a:latin typeface="Calibri"/>
              </a:rPr>
              <a:t>Interfaz del tokenizador sin documentación oficial</a:t>
            </a:r>
          </a:p>
        </p:txBody>
      </p:sp>
      <p:sp>
        <p:nvSpPr>
          <p:cNvPr id="7" name="Rounded Rectangle 6"/>
          <p:cNvSpPr/>
          <p:nvPr/>
        </p:nvSpPr>
        <p:spPr>
          <a:xfrm>
            <a:off x="4306824" y="1417320"/>
            <a:ext cx="3520440" cy="3749039"/>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81144" y="1691640"/>
            <a:ext cx="502920" cy="502920"/>
          </a:xfrm>
          <a:prstGeom prst="ellipse">
            <a:avLst/>
          </a:prstGeom>
          <a:solidFill>
            <a:srgbClr val="1E232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5221224" y="1691640"/>
            <a:ext cx="2468880" cy="502920"/>
          </a:xfrm>
          <a:prstGeom prst="rect">
            <a:avLst/>
          </a:prstGeom>
          <a:noFill/>
        </p:spPr>
        <p:txBody>
          <a:bodyPr wrap="square" anchor="ctr" lIns="0" rIns="0" tIns="0" bIns="0">
            <a:spAutoFit/>
          </a:bodyPr>
          <a:lstStyle/>
          <a:p>
            <a:pPr algn="l"/>
            <a:r>
              <a:rPr sz="2000" b="1" i="0">
                <a:solidFill>
                  <a:srgbClr val="1E2329"/>
                </a:solidFill>
                <a:latin typeface="Calibri"/>
              </a:rPr>
              <a:t>Limitaciones</a:t>
            </a:r>
          </a:p>
        </p:txBody>
      </p:sp>
      <p:sp>
        <p:nvSpPr>
          <p:cNvPr id="10" name="TextBox 9"/>
          <p:cNvSpPr txBox="1"/>
          <p:nvPr/>
        </p:nvSpPr>
        <p:spPr>
          <a:xfrm>
            <a:off x="4581144" y="2468880"/>
            <a:ext cx="3017520" cy="3474720"/>
          </a:xfrm>
          <a:prstGeom prst="rect">
            <a:avLst/>
          </a:prstGeom>
          <a:noFill/>
        </p:spPr>
        <p:txBody>
          <a:bodyPr wrap="square" anchor="t" lIns="0" rIns="0" tIns="0" bIns="0">
            <a:spAutoFit/>
          </a:bodyPr>
          <a:lstStyle/>
          <a:p>
            <a:pPr algn="l" marL="228600" indent="-228600">
              <a:spcAft>
                <a:spcPts val="1200"/>
              </a:spcAft>
              <a:buClr>
                <a:srgbClr val="1E2329"/>
              </a:buClr>
              <a:buFont typeface="Arial"/>
              <a:buChar char="•"/>
            </a:pPr>
            <a:r>
              <a:rPr sz="1500" b="0" i="0">
                <a:solidFill>
                  <a:srgbClr val="1E2329"/>
                </a:solidFill>
                <a:latin typeface="Calibri"/>
              </a:rPr>
              <a:t>Modelo entrenado en inglés: semántica débil en español (mitigada con la búsqueda híbrida)</a:t>
            </a:r>
          </a:p>
          <a:p>
            <a:pPr algn="l" marL="228600" indent="-228600">
              <a:spcAft>
                <a:spcPts val="1200"/>
              </a:spcAft>
              <a:buClr>
                <a:srgbClr val="1E2329"/>
              </a:buClr>
              <a:buFont typeface="Arial"/>
              <a:buChar char="•"/>
            </a:pPr>
            <a:r>
              <a:rPr sz="1500" b="0" i="0">
                <a:solidFill>
                  <a:srgbClr val="1E2329"/>
                </a:solidFill>
                <a:latin typeface="Calibri"/>
              </a:rPr>
              <a:t>Demo con EXECUTE AS sobre usuarios WITHOUT LOGIN</a:t>
            </a:r>
          </a:p>
          <a:p>
            <a:pPr algn="l" marL="228600" indent="-228600">
              <a:spcAft>
                <a:spcPts val="1200"/>
              </a:spcAft>
              <a:buClr>
                <a:srgbClr val="1E2329"/>
              </a:buClr>
              <a:buFont typeface="Arial"/>
              <a:buChar char="•"/>
            </a:pPr>
            <a:r>
              <a:rPr sz="1500" b="0" i="0">
                <a:solidFill>
                  <a:srgbClr val="1E2329"/>
                </a:solidFill>
                <a:latin typeface="Calibri"/>
              </a:rPr>
              <a:t>Sin umbral mínimo de relevancia</a:t>
            </a:r>
          </a:p>
        </p:txBody>
      </p:sp>
      <p:sp>
        <p:nvSpPr>
          <p:cNvPr id="11" name="Rounded Rectangle 10"/>
          <p:cNvSpPr/>
          <p:nvPr/>
        </p:nvSpPr>
        <p:spPr>
          <a:xfrm>
            <a:off x="8065008" y="1417320"/>
            <a:ext cx="3520440" cy="3749039"/>
          </a:xfrm>
          <a:prstGeom prst="roundRect">
            <a:avLst>
              <a:gd name="adj" fmla="val 6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39328" y="16916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8979408" y="1691640"/>
            <a:ext cx="2468880" cy="502920"/>
          </a:xfrm>
          <a:prstGeom prst="rect">
            <a:avLst/>
          </a:prstGeom>
          <a:noFill/>
        </p:spPr>
        <p:txBody>
          <a:bodyPr wrap="square" anchor="ctr" lIns="0" rIns="0" tIns="0" bIns="0">
            <a:spAutoFit/>
          </a:bodyPr>
          <a:lstStyle/>
          <a:p>
            <a:pPr algn="l"/>
            <a:r>
              <a:rPr sz="2000" b="1" i="0">
                <a:solidFill>
                  <a:srgbClr val="1E2329"/>
                </a:solidFill>
                <a:latin typeface="Calibri"/>
              </a:rPr>
              <a:t>Próximos pasos</a:t>
            </a:r>
          </a:p>
        </p:txBody>
      </p:sp>
      <p:sp>
        <p:nvSpPr>
          <p:cNvPr id="14" name="TextBox 13"/>
          <p:cNvSpPr txBox="1"/>
          <p:nvPr/>
        </p:nvSpPr>
        <p:spPr>
          <a:xfrm>
            <a:off x="8339328" y="2468880"/>
            <a:ext cx="3017520" cy="3474720"/>
          </a:xfrm>
          <a:prstGeom prst="rect">
            <a:avLst/>
          </a:prstGeom>
          <a:noFill/>
        </p:spPr>
        <p:txBody>
          <a:bodyPr wrap="square" anchor="t" lIns="0" rIns="0" tIns="0" bIns="0">
            <a:spAutoFit/>
          </a:bodyPr>
          <a:lstStyle/>
          <a:p>
            <a:pPr algn="l" marL="228600" indent="-228600">
              <a:spcAft>
                <a:spcPts val="1200"/>
              </a:spcAft>
              <a:buClr>
                <a:srgbClr val="0E9F8E"/>
              </a:buClr>
              <a:buFont typeface="Arial"/>
              <a:buChar char="•"/>
            </a:pPr>
            <a:r>
              <a:rPr sz="1500" b="0" i="0">
                <a:solidFill>
                  <a:srgbClr val="1E2329"/>
                </a:solidFill>
                <a:latin typeface="Calibri"/>
              </a:rPr>
              <a:t>Modelo multilingüe de 384 dimensiones, sin cambiar el esquema</a:t>
            </a:r>
          </a:p>
          <a:p>
            <a:pPr algn="l" marL="228600" indent="-228600">
              <a:spcAft>
                <a:spcPts val="1200"/>
              </a:spcAft>
              <a:buClr>
                <a:srgbClr val="0E9F8E"/>
              </a:buClr>
              <a:buFont typeface="Arial"/>
              <a:buChar char="•"/>
            </a:pPr>
            <a:r>
              <a:rPr sz="1500" b="0" i="0">
                <a:solidFill>
                  <a:srgbClr val="1E2329"/>
                </a:solidFill>
                <a:latin typeface="Calibri"/>
              </a:rPr>
              <a:t>Umbral de puntuación RRF para descartar fragmentos ajenos</a:t>
            </a:r>
          </a:p>
          <a:p>
            <a:pPr algn="l" marL="228600" indent="-228600">
              <a:spcAft>
                <a:spcPts val="1200"/>
              </a:spcAft>
              <a:buClr>
                <a:srgbClr val="0E9F8E"/>
              </a:buClr>
              <a:buFont typeface="Arial"/>
              <a:buChar char="•"/>
            </a:pPr>
            <a:r>
              <a:rPr sz="1500" b="0" i="0">
                <a:solidFill>
                  <a:srgbClr val="1E2329"/>
                </a:solidFill>
                <a:latin typeface="Calibri"/>
              </a:rPr>
              <a:t>Identidad real: grupos de AD o Entra ID asignados a los roles</a:t>
            </a:r>
          </a:p>
        </p:txBody>
      </p:sp>
      <p:sp>
        <p:nvSpPr>
          <p:cNvPr id="15" name="TextBox 14"/>
          <p:cNvSpPr txBox="1"/>
          <p:nvPr/>
        </p:nvSpPr>
        <p:spPr>
          <a:xfrm>
            <a:off x="8503920" y="6400800"/>
            <a:ext cx="3136392" cy="274320"/>
          </a:xfrm>
          <a:prstGeom prst="rect">
            <a:avLst/>
          </a:prstGeom>
          <a:noFill/>
        </p:spPr>
        <p:txBody>
          <a:bodyPr wrap="square" anchor="t" lIns="0" rIns="0" tIns="0" bIns="0">
            <a:spAutoFit/>
          </a:bodyPr>
          <a:lstStyle/>
          <a:p>
            <a:pPr algn="r"/>
            <a:r>
              <a:rPr sz="1000" b="0" i="0">
                <a:solidFill>
                  <a:srgbClr val="5B6670"/>
                </a:solidFill>
                <a:latin typeface="Calibri"/>
              </a:rPr>
              <a:t>NormativaRAG · DP-800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329"/>
        </a:solidFill>
        <a:effectLst/>
      </p:bgPr>
    </p:bg>
    <p:spTree>
      <p:nvGrpSpPr>
        <p:cNvPr id="1" name=""/>
        <p:cNvGrpSpPr/>
        <p:nvPr/>
      </p:nvGrpSpPr>
      <p:grpSpPr/>
      <p:sp>
        <p:nvSpPr>
          <p:cNvPr id="2" name="Título"/>
          <p:cNvSpPr txBox="1"/>
          <p:nvPr/>
        </p:nvSpPr>
        <p:spPr>
          <a:xfrm>
            <a:off x="548640" y="365760"/>
            <a:ext cx="11064240" cy="731520"/>
          </a:xfrm>
          <a:prstGeom prst="rect">
            <a:avLst/>
          </a:prstGeom>
          <a:noFill/>
        </p:spPr>
        <p:txBody>
          <a:bodyPr wrap="square" anchor="ctr" lIns="0" rIns="0" tIns="0" bIns="0">
            <a:spAutoFit/>
          </a:bodyPr>
          <a:lstStyle/>
          <a:p>
            <a:pPr algn="l"/>
            <a:r>
              <a:rPr sz="3400" b="1" i="0">
                <a:solidFill>
                  <a:srgbClr val="FFFFFF"/>
                </a:solidFill>
                <a:latin typeface="Calibri"/>
              </a:rPr>
              <a:t>Conclusiones</a:t>
            </a:r>
          </a:p>
        </p:txBody>
      </p:sp>
      <p:sp>
        <p:nvSpPr>
          <p:cNvPr id="3" name="Oval 2"/>
          <p:cNvSpPr/>
          <p:nvPr/>
        </p:nvSpPr>
        <p:spPr>
          <a:xfrm>
            <a:off x="731520" y="1645920"/>
            <a:ext cx="685800" cy="68580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4" name="TextBox 3"/>
          <p:cNvSpPr txBox="1"/>
          <p:nvPr/>
        </p:nvSpPr>
        <p:spPr>
          <a:xfrm>
            <a:off x="1691640" y="1554480"/>
            <a:ext cx="9601200" cy="457200"/>
          </a:xfrm>
          <a:prstGeom prst="rect">
            <a:avLst/>
          </a:prstGeom>
          <a:noFill/>
        </p:spPr>
        <p:txBody>
          <a:bodyPr wrap="square" anchor="t" lIns="0" rIns="0" tIns="0" bIns="0">
            <a:spAutoFit/>
          </a:bodyPr>
          <a:lstStyle/>
          <a:p>
            <a:pPr algn="l"/>
            <a:r>
              <a:rPr sz="2400" b="1" i="0">
                <a:solidFill>
                  <a:srgbClr val="FFFFFF"/>
                </a:solidFill>
                <a:latin typeface="Calibri"/>
              </a:rPr>
              <a:t>La seguridad vive en el motor</a:t>
            </a:r>
          </a:p>
        </p:txBody>
      </p:sp>
      <p:sp>
        <p:nvSpPr>
          <p:cNvPr id="5" name="TextBox 4"/>
          <p:cNvSpPr txBox="1"/>
          <p:nvPr/>
        </p:nvSpPr>
        <p:spPr>
          <a:xfrm>
            <a:off x="1691640" y="2011680"/>
            <a:ext cx="9601200" cy="457200"/>
          </a:xfrm>
          <a:prstGeom prst="rect">
            <a:avLst/>
          </a:prstGeom>
          <a:noFill/>
        </p:spPr>
        <p:txBody>
          <a:bodyPr wrap="square" anchor="t" lIns="0" rIns="0" tIns="0" bIns="0">
            <a:spAutoFit/>
          </a:bodyPr>
          <a:lstStyle/>
          <a:p>
            <a:pPr algn="l"/>
            <a:r>
              <a:rPr sz="1600" b="0" i="0">
                <a:solidFill>
                  <a:srgbClr val="B8C2CC"/>
                </a:solidFill>
                <a:latin typeface="Calibri"/>
              </a:rPr>
              <a:t>RLS decide qué fragmentos ve el LLM, sea cual sea el cliente</a:t>
            </a:r>
          </a:p>
        </p:txBody>
      </p:sp>
      <p:sp>
        <p:nvSpPr>
          <p:cNvPr id="6" name="Oval 5"/>
          <p:cNvSpPr/>
          <p:nvPr/>
        </p:nvSpPr>
        <p:spPr>
          <a:xfrm>
            <a:off x="731520" y="2880360"/>
            <a:ext cx="685800" cy="68580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7" name="TextBox 6"/>
          <p:cNvSpPr txBox="1"/>
          <p:nvPr/>
        </p:nvSpPr>
        <p:spPr>
          <a:xfrm>
            <a:off x="1691640" y="2788920"/>
            <a:ext cx="9601200" cy="457200"/>
          </a:xfrm>
          <a:prstGeom prst="rect">
            <a:avLst/>
          </a:prstGeom>
          <a:noFill/>
        </p:spPr>
        <p:txBody>
          <a:bodyPr wrap="square" anchor="t" lIns="0" rIns="0" tIns="0" bIns="0">
            <a:spAutoFit/>
          </a:bodyPr>
          <a:lstStyle/>
          <a:p>
            <a:pPr algn="l"/>
            <a:r>
              <a:rPr sz="2400" b="1" i="0">
                <a:solidFill>
                  <a:srgbClr val="FFFFFF"/>
                </a:solidFill>
                <a:latin typeface="Calibri"/>
              </a:rPr>
              <a:t>La IA también</a:t>
            </a:r>
          </a:p>
        </p:txBody>
      </p:sp>
      <p:sp>
        <p:nvSpPr>
          <p:cNvPr id="8" name="TextBox 7"/>
          <p:cNvSpPr txBox="1"/>
          <p:nvPr/>
        </p:nvSpPr>
        <p:spPr>
          <a:xfrm>
            <a:off x="1691640" y="3246120"/>
            <a:ext cx="9601200" cy="457200"/>
          </a:xfrm>
          <a:prstGeom prst="rect">
            <a:avLst/>
          </a:prstGeom>
          <a:noFill/>
        </p:spPr>
        <p:txBody>
          <a:bodyPr wrap="square" anchor="t" lIns="0" rIns="0" tIns="0" bIns="0">
            <a:spAutoFit/>
          </a:bodyPr>
          <a:lstStyle/>
          <a:p>
            <a:pPr algn="l"/>
            <a:r>
              <a:rPr sz="1600" b="0" i="0">
                <a:solidFill>
                  <a:srgbClr val="B8C2CC"/>
                </a:solidFill>
                <a:latin typeface="Calibri"/>
              </a:rPr>
              <a:t>Embeddings ONNX y búsqueda híbrida sin salir de SQL Server ni usar servicios externos</a:t>
            </a:r>
          </a:p>
        </p:txBody>
      </p:sp>
      <p:sp>
        <p:nvSpPr>
          <p:cNvPr id="9" name="Oval 8"/>
          <p:cNvSpPr/>
          <p:nvPr/>
        </p:nvSpPr>
        <p:spPr>
          <a:xfrm>
            <a:off x="731520" y="4114800"/>
            <a:ext cx="685800" cy="68580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0" name="TextBox 9"/>
          <p:cNvSpPr txBox="1"/>
          <p:nvPr/>
        </p:nvSpPr>
        <p:spPr>
          <a:xfrm>
            <a:off x="1691640" y="4023360"/>
            <a:ext cx="9601200" cy="457200"/>
          </a:xfrm>
          <a:prstGeom prst="rect">
            <a:avLst/>
          </a:prstGeom>
          <a:noFill/>
        </p:spPr>
        <p:txBody>
          <a:bodyPr wrap="square" anchor="t" lIns="0" rIns="0" tIns="0" bIns="0">
            <a:spAutoFit/>
          </a:bodyPr>
          <a:lstStyle/>
          <a:p>
            <a:pPr algn="l"/>
            <a:r>
              <a:rPr sz="2400" b="1" i="0">
                <a:solidFill>
                  <a:srgbClr val="FFFFFF"/>
                </a:solidFill>
                <a:latin typeface="Calibri"/>
              </a:rPr>
              <a:t>Cada decisión está medida</a:t>
            </a:r>
          </a:p>
        </p:txBody>
      </p:sp>
      <p:sp>
        <p:nvSpPr>
          <p:cNvPr id="11" name="TextBox 10"/>
          <p:cNvSpPr txBox="1"/>
          <p:nvPr/>
        </p:nvSpPr>
        <p:spPr>
          <a:xfrm>
            <a:off x="1691640" y="4480560"/>
            <a:ext cx="9601200" cy="457200"/>
          </a:xfrm>
          <a:prstGeom prst="rect">
            <a:avLst/>
          </a:prstGeom>
          <a:noFill/>
        </p:spPr>
        <p:txBody>
          <a:bodyPr wrap="square" anchor="t" lIns="0" rIns="0" tIns="0" bIns="0">
            <a:spAutoFit/>
          </a:bodyPr>
          <a:lstStyle/>
          <a:p>
            <a:pPr algn="l"/>
            <a:r>
              <a:rPr sz="1600" b="0" i="0">
                <a:solidFill>
                  <a:srgbClr val="B8C2CC"/>
                </a:solidFill>
                <a:latin typeface="Calibri"/>
              </a:rPr>
              <a:t>Truncado 35 → 0, padding ×3–5 y MRR 0,56 → 0,81</a:t>
            </a:r>
          </a:p>
        </p:txBody>
      </p:sp>
      <p:sp>
        <p:nvSpPr>
          <p:cNvPr id="12" name="TextBox 11"/>
          <p:cNvSpPr txBox="1"/>
          <p:nvPr/>
        </p:nvSpPr>
        <p:spPr>
          <a:xfrm>
            <a:off x="548640" y="5440680"/>
            <a:ext cx="11091672" cy="822960"/>
          </a:xfrm>
          <a:prstGeom prst="rect">
            <a:avLst/>
          </a:prstGeom>
          <a:noFill/>
        </p:spPr>
        <p:txBody>
          <a:bodyPr wrap="square" anchor="ctr" lIns="0" rIns="0" tIns="0" bIns="0">
            <a:spAutoFit/>
          </a:bodyPr>
          <a:lstStyle/>
          <a:p>
            <a:pPr algn="ctr"/>
            <a:r>
              <a:rPr sz="4000" b="1" i="0">
                <a:solidFill>
                  <a:srgbClr val="0E9F8E"/>
                </a:solidFill>
                <a:latin typeface="Calibri"/>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NormativaRAG · Defensa DP-800</dc:title>
  <dc:subject>Sistema RAG de auditoría normativa con RLS en SQL Server 2025</dc:subject>
  <dc:creator>Víctor Pérez</dc:creator>
  <cp:keywords/>
  <dc:description/>
  <cp:lastModifiedBy>Víctor Pérez</cp:lastModifiedBy>
  <cp:revision>1</cp:revision>
  <dcterms:created xsi:type="dcterms:W3CDTF">2026-10-27T21:17:15Z</dcterms:created>
  <dcterms:modified xsi:type="dcterms:W3CDTF">2026-10-27T21:17:15Z</dcterms:modified>
  <cp:category/>
</cp:coreProperties>
</file>